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we’re Roots. We built this for the East Bay Permaculture Guild. Their big problem is not finding volunteers. It is getting them to come back. In four minutes we’ll show how Roots gives each person a reason to return, uses AI to know them and reach them, and finds money that funds more volunteer days.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Guild’s own brief. Welcome new members. Understand how they want to take part. Turn events into outreach a volunteer can review. And keep it cheap, easy to run, and personal. Underneath all of it is one problem: consistency.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our demo community, 8 of 35 people came once and never came back. That is the real pattern the Guild described. Their monthly work days, the pantry and the unconferences only work if people return. So we asked: what would make someone come back?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Roots has three parts, in this order. First, hours that count: a benefit for the volunteer. Second, a personal nudge: AI learns what each person wants and drafts the message, and a person approves it. Third, money: employer matching and grants that pay for more volunteer days. Each part feeds the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starts with knowing people. We added a five-step sign-up to Garden Steward, the Guild’s own platform. It asks what people enjoy, when they are free, where they work, and whether their hours could count for something. We store a LinkedIn link they choose to share. We never scrape it. All of it lands on their profile.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Roots turns that knowledge into a message. It notices who could benefit, drafts a personal SMS for each person, and a coordinator approves it. You can also just text Roots on Telegram and ask what needs attention today. In the demo, messages land in a Telegram demo inbox standing in for the volunteer’s phone. Nothing goes out without a person.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AI earns its keep. Different people need different reasons. A high-schooler needs service hours. An FFA student can log placement hours. A community-college student can earn credit. Someone on CalFresh needs 80 hours a month, and volunteering counts. Roots found 12 volunteers who could gain a benefit just by coming back.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money. Microsoft gives a nonprofit $25 for every hour an employee volunteers, and three of the regulars work there. That is why the sign-up asks where people work. The CalAgPlate grant, $2,500 to $10,000, fits 20 students and closes on 2 November. And funded fellowship programmes can place paid people at the garden. More money means more volunteer days, and more chances to come back.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Guild asked for affordable, easy to maintain, and personal. The sign-up sits inside their own platform. A person approves every message. The AI costs cents. And we only use what people chose to share. To be clear: today’s demo uses fictional people, and real SMS sending is the next step.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hour should count for something, for the volunteer and for the garden. Our ask: let’s pilot Roots at the Guild’s next monthly work day. The next steps are clear: connect an SMS provider, register for employer matching, and apply to CalAgPlate before 2 November.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61D"/>
        </a:solidFill>
        <a:effectLst/>
      </p:bgPr>
    </p:bg>
    <p:spTree>
      <p:nvGrpSpPr>
        <p:cNvPr id="1" name=""/>
        <p:cNvGrpSpPr/>
        <p:nvPr/>
      </p:nvGrpSpPr>
      <p:grpSpPr/>
      <p:sp>
        <p:nvSpPr>
          <p:cNvPr id="2" name="TextBox 1"/>
          <p:cNvSpPr txBox="1"/>
          <p:nvPr/>
        </p:nvSpPr>
        <p:spPr>
          <a:xfrm>
            <a:off x="812800" y="812800"/>
            <a:ext cx="10566400" cy="254000"/>
          </a:xfrm>
          <a:prstGeom prst="rect">
            <a:avLst/>
          </a:prstGeom>
          <a:noFill/>
        </p:spPr>
        <p:txBody>
          <a:bodyPr wrap="square" anchor="t" lIns="0" rIns="0" tIns="0" bIns="0">
            <a:spAutoFit/>
          </a:bodyPr>
          <a:lstStyle/>
          <a:p>
            <a:pPr algn="l">
              <a:lnSpc>
                <a:spcPct val="115000"/>
              </a:lnSpc>
            </a:pPr>
            <a:r>
              <a:rPr sz="1200" b="1" i="0">
                <a:solidFill>
                  <a:srgbClr val="B9D29C"/>
                </a:solidFill>
                <a:latin typeface="Nunito Sans"/>
              </a:rPr>
              <a:t>EAST BAY PERMACULTURE GUILD · HACK FOR SOCIAL IMPACT 2026</a:t>
            </a:r>
          </a:p>
        </p:txBody>
      </p:sp>
      <p:sp>
        <p:nvSpPr>
          <p:cNvPr id="3" name="TextBox 2"/>
          <p:cNvSpPr txBox="1"/>
          <p:nvPr/>
        </p:nvSpPr>
        <p:spPr>
          <a:xfrm>
            <a:off x="812800" y="2095500"/>
            <a:ext cx="10566400" cy="889000"/>
          </a:xfrm>
          <a:prstGeom prst="rect">
            <a:avLst/>
          </a:prstGeom>
          <a:noFill/>
        </p:spPr>
        <p:txBody>
          <a:bodyPr wrap="square" anchor="t" lIns="0" rIns="0" tIns="0" bIns="0">
            <a:spAutoFit/>
          </a:bodyPr>
          <a:lstStyle/>
          <a:p>
            <a:pPr algn="l">
              <a:lnSpc>
                <a:spcPct val="115000"/>
              </a:lnSpc>
            </a:pPr>
            <a:r>
              <a:rPr sz="6000" b="1" i="0">
                <a:solidFill>
                  <a:srgbClr val="F3EFE4"/>
                </a:solidFill>
                <a:latin typeface="Domine"/>
              </a:rPr>
              <a:t>Roots</a:t>
            </a:r>
          </a:p>
        </p:txBody>
      </p:sp>
      <p:sp>
        <p:nvSpPr>
          <p:cNvPr id="4" name="TextBox 3"/>
          <p:cNvSpPr txBox="1"/>
          <p:nvPr/>
        </p:nvSpPr>
        <p:spPr>
          <a:xfrm>
            <a:off x="812800" y="3048000"/>
            <a:ext cx="10566400" cy="635000"/>
          </a:xfrm>
          <a:prstGeom prst="rect">
            <a:avLst/>
          </a:prstGeom>
          <a:noFill/>
        </p:spPr>
        <p:txBody>
          <a:bodyPr wrap="square" anchor="t" lIns="0" rIns="0" tIns="0" bIns="0">
            <a:spAutoFit/>
          </a:bodyPr>
          <a:lstStyle/>
          <a:p>
            <a:pPr algn="l">
              <a:lnSpc>
                <a:spcPct val="115000"/>
              </a:lnSpc>
            </a:pPr>
            <a:r>
              <a:rPr sz="3600" b="0" i="0">
                <a:solidFill>
                  <a:srgbClr val="B9D29C"/>
                </a:solidFill>
                <a:latin typeface="Domine"/>
              </a:rPr>
              <a:t>Volunteers who come back.</a:t>
            </a:r>
          </a:p>
        </p:txBody>
      </p:sp>
      <p:sp>
        <p:nvSpPr>
          <p:cNvPr id="5" name="TextBox 4"/>
          <p:cNvSpPr txBox="1"/>
          <p:nvPr/>
        </p:nvSpPr>
        <p:spPr>
          <a:xfrm>
            <a:off x="812800" y="3873500"/>
            <a:ext cx="7493000" cy="698500"/>
          </a:xfrm>
          <a:prstGeom prst="rect">
            <a:avLst/>
          </a:prstGeom>
          <a:noFill/>
        </p:spPr>
        <p:txBody>
          <a:bodyPr wrap="square" anchor="t" lIns="0" rIns="0" tIns="0" bIns="0">
            <a:spAutoFit/>
          </a:bodyPr>
          <a:lstStyle/>
          <a:p>
            <a:pPr algn="l">
              <a:lnSpc>
                <a:spcPct val="130000"/>
              </a:lnSpc>
            </a:pPr>
            <a:r>
              <a:rPr sz="1600" b="0" i="0">
                <a:solidFill>
                  <a:srgbClr val="C9D6C0"/>
                </a:solidFill>
                <a:latin typeface="Nunito Sans"/>
              </a:rPr>
              <a:t>Reasons that make every hour count, AI that knows your people, and money that funds more volunteer days.</a:t>
            </a:r>
          </a:p>
        </p:txBody>
      </p:sp>
      <p:sp>
        <p:nvSpPr>
          <p:cNvPr id="6" name="TextBox 5"/>
          <p:cNvSpPr txBox="1"/>
          <p:nvPr/>
        </p:nvSpPr>
        <p:spPr>
          <a:xfrm>
            <a:off x="812800" y="5791200"/>
            <a:ext cx="10566400" cy="254000"/>
          </a:xfrm>
          <a:prstGeom prst="rect">
            <a:avLst/>
          </a:prstGeom>
          <a:noFill/>
        </p:spPr>
        <p:txBody>
          <a:bodyPr wrap="square" anchor="t" lIns="0" rIns="0" tIns="0" bIns="0">
            <a:spAutoFit/>
          </a:bodyPr>
          <a:lstStyle/>
          <a:p>
            <a:pPr algn="l">
              <a:lnSpc>
                <a:spcPct val="115000"/>
              </a:lnSpc>
            </a:pPr>
            <a:r>
              <a:rPr sz="1200" b="0" i="0">
                <a:solidFill>
                  <a:srgbClr val="9FB096"/>
                </a:solidFill>
                <a:latin typeface="Nunito Sans"/>
              </a:rPr>
              <a:t>Built on Garden Steward · Demo uses fictional volunteers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EFE4"/>
        </a:solidFill>
        <a:effectLst/>
      </p:bgPr>
    </p:bg>
    <p:spTree>
      <p:nvGrpSpPr>
        <p:cNvPr id="1" name=""/>
        <p:cNvGrpSpPr/>
        <p:nvPr/>
      </p:nvGrpSpPr>
      <p:grpSpPr/>
      <p:sp>
        <p:nvSpPr>
          <p:cNvPr id="2" name="TextBox 1"/>
          <p:cNvSpPr txBox="1"/>
          <p:nvPr/>
        </p:nvSpPr>
        <p:spPr>
          <a:xfrm>
            <a:off x="812800" y="812800"/>
            <a:ext cx="10566400" cy="254000"/>
          </a:xfrm>
          <a:prstGeom prst="rect">
            <a:avLst/>
          </a:prstGeom>
          <a:noFill/>
        </p:spPr>
        <p:txBody>
          <a:bodyPr wrap="square" anchor="t" lIns="0" rIns="0" tIns="0" bIns="0">
            <a:spAutoFit/>
          </a:bodyPr>
          <a:lstStyle/>
          <a:p>
            <a:pPr algn="l">
              <a:lnSpc>
                <a:spcPct val="115000"/>
              </a:lnSpc>
            </a:pPr>
            <a:r>
              <a:rPr sz="1200" b="1" i="0">
                <a:solidFill>
                  <a:srgbClr val="3F6B3A"/>
                </a:solidFill>
                <a:latin typeface="Nunito Sans"/>
              </a:rPr>
              <a:t>THE GUILD’S CHALLENGE</a:t>
            </a:r>
          </a:p>
        </p:txBody>
      </p:sp>
      <p:sp>
        <p:nvSpPr>
          <p:cNvPr id="3" name="TextBox 2"/>
          <p:cNvSpPr txBox="1"/>
          <p:nvPr/>
        </p:nvSpPr>
        <p:spPr>
          <a:xfrm>
            <a:off x="812800" y="1905000"/>
            <a:ext cx="9906000" cy="2095500"/>
          </a:xfrm>
          <a:prstGeom prst="rect">
            <a:avLst/>
          </a:prstGeom>
          <a:noFill/>
        </p:spPr>
        <p:txBody>
          <a:bodyPr wrap="square" anchor="t" lIns="0" rIns="0" tIns="0" bIns="0">
            <a:spAutoFit/>
          </a:bodyPr>
          <a:lstStyle/>
          <a:p>
            <a:pPr algn="l">
              <a:lnSpc>
                <a:spcPct val="125000"/>
              </a:lnSpc>
            </a:pPr>
            <a:r>
              <a:rPr sz="2800" b="0" i="0">
                <a:solidFill>
                  <a:srgbClr val="1E261D"/>
                </a:solidFill>
                <a:latin typeface="Domine"/>
              </a:rPr>
              <a:t>“Build simple tools to help the Guild welcome new members, understand how they want to participate, and turn event details into outreach ready for volunteer review.”</a:t>
            </a:r>
          </a:p>
        </p:txBody>
      </p:sp>
      <p:sp>
        <p:nvSpPr>
          <p:cNvPr id="4" name="TextBox 3"/>
          <p:cNvSpPr txBox="1"/>
          <p:nvPr/>
        </p:nvSpPr>
        <p:spPr>
          <a:xfrm>
            <a:off x="812800" y="4318000"/>
            <a:ext cx="8890000" cy="698500"/>
          </a:xfrm>
          <a:prstGeom prst="rect">
            <a:avLst/>
          </a:prstGeom>
          <a:noFill/>
        </p:spPr>
        <p:txBody>
          <a:bodyPr wrap="square" anchor="t" lIns="0" rIns="0" tIns="0" bIns="0">
            <a:spAutoFit/>
          </a:bodyPr>
          <a:lstStyle/>
          <a:p>
            <a:pPr algn="l">
              <a:lnSpc>
                <a:spcPct val="130000"/>
              </a:lnSpc>
            </a:pPr>
            <a:r>
              <a:rPr sz="1600" b="0" i="0">
                <a:solidFill>
                  <a:srgbClr val="4E5A4A"/>
                </a:solidFill>
                <a:latin typeface="Nunito Sans"/>
              </a:rPr>
              <a:t>“Keep it affordable, easy for volunteers to maintain, and true to the personal connections.”</a:t>
            </a:r>
          </a:p>
        </p:txBody>
      </p:sp>
      <p:sp>
        <p:nvSpPr>
          <p:cNvPr id="5" name="TextBox 4"/>
          <p:cNvSpPr txBox="1"/>
          <p:nvPr/>
        </p:nvSpPr>
        <p:spPr>
          <a:xfrm>
            <a:off x="812800" y="5791200"/>
            <a:ext cx="10566400" cy="254000"/>
          </a:xfrm>
          <a:prstGeom prst="rect">
            <a:avLst/>
          </a:prstGeom>
          <a:noFill/>
        </p:spPr>
        <p:txBody>
          <a:bodyPr wrap="square" anchor="t" lIns="0" rIns="0" tIns="0" bIns="0">
            <a:spAutoFit/>
          </a:bodyPr>
          <a:lstStyle/>
          <a:p>
            <a:pPr algn="l">
              <a:lnSpc>
                <a:spcPct val="115000"/>
              </a:lnSpc>
            </a:pPr>
            <a:r>
              <a:rPr sz="1200" b="0" i="0">
                <a:solidFill>
                  <a:srgbClr val="4E5A4A"/>
                </a:solidFill>
                <a:latin typeface="Nunito Sans"/>
              </a:rPr>
              <a:t>East Bay Permaculture Guild · written challenge for Hack for Social Impact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7E2D3"/>
        </a:solidFill>
        <a:effectLst/>
      </p:bgPr>
    </p:bg>
    <p:spTree>
      <p:nvGrpSpPr>
        <p:cNvPr id="1" name=""/>
        <p:cNvGrpSpPr/>
        <p:nvPr/>
      </p:nvGrpSpPr>
      <p:grpSpPr/>
      <p:sp>
        <p:nvSpPr>
          <p:cNvPr id="2" name="TextBox 1"/>
          <p:cNvSpPr txBox="1"/>
          <p:nvPr/>
        </p:nvSpPr>
        <p:spPr>
          <a:xfrm>
            <a:off x="812800" y="812800"/>
            <a:ext cx="9525000" cy="1143000"/>
          </a:xfrm>
          <a:prstGeom prst="rect">
            <a:avLst/>
          </a:prstGeom>
          <a:noFill/>
        </p:spPr>
        <p:txBody>
          <a:bodyPr wrap="square" anchor="t" lIns="0" rIns="0" tIns="0" bIns="0">
            <a:spAutoFit/>
          </a:bodyPr>
          <a:lstStyle/>
          <a:p>
            <a:pPr algn="l">
              <a:lnSpc>
                <a:spcPct val="105000"/>
              </a:lnSpc>
            </a:pPr>
            <a:r>
              <a:rPr sz="3600" b="1" i="0">
                <a:solidFill>
                  <a:srgbClr val="1E261D"/>
                </a:solidFill>
                <a:latin typeface="Domine"/>
              </a:rPr>
              <a:t>People come once. Then life gets in the way.</a:t>
            </a:r>
          </a:p>
        </p:txBody>
      </p:sp>
      <p:sp>
        <p:nvSpPr>
          <p:cNvPr id="3" name="Rounded Rectangle 2"/>
          <p:cNvSpPr/>
          <p:nvPr/>
        </p:nvSpPr>
        <p:spPr>
          <a:xfrm>
            <a:off x="812800" y="2413000"/>
            <a:ext cx="5181600" cy="2794000"/>
          </a:xfrm>
          <a:prstGeom prst="roundRect">
            <a:avLst>
              <a:gd name="adj" fmla="val 6000"/>
            </a:avLst>
          </a:prstGeom>
          <a:solidFill>
            <a:srgbClr val="F3E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17600" y="2717800"/>
            <a:ext cx="4572000" cy="889000"/>
          </a:xfrm>
          <a:prstGeom prst="rect">
            <a:avLst/>
          </a:prstGeom>
          <a:noFill/>
        </p:spPr>
        <p:txBody>
          <a:bodyPr wrap="square" anchor="t" lIns="0" rIns="0" tIns="0" bIns="0">
            <a:spAutoFit/>
          </a:bodyPr>
          <a:lstStyle/>
          <a:p>
            <a:pPr algn="l">
              <a:lnSpc>
                <a:spcPct val="115000"/>
              </a:lnSpc>
            </a:pPr>
            <a:r>
              <a:rPr sz="6000" b="1" i="0">
                <a:solidFill>
                  <a:srgbClr val="3F6B3A"/>
                </a:solidFill>
                <a:latin typeface="Domine"/>
              </a:rPr>
              <a:t>8 of 35</a:t>
            </a:r>
          </a:p>
        </p:txBody>
      </p:sp>
      <p:sp>
        <p:nvSpPr>
          <p:cNvPr id="5" name="TextBox 4"/>
          <p:cNvSpPr txBox="1"/>
          <p:nvPr/>
        </p:nvSpPr>
        <p:spPr>
          <a:xfrm>
            <a:off x="1117600" y="3810000"/>
            <a:ext cx="4572000" cy="1016000"/>
          </a:xfrm>
          <a:prstGeom prst="rect">
            <a:avLst/>
          </a:prstGeom>
          <a:noFill/>
        </p:spPr>
        <p:txBody>
          <a:bodyPr wrap="square" anchor="t" lIns="0" rIns="0" tIns="0" bIns="0">
            <a:spAutoFit/>
          </a:bodyPr>
          <a:lstStyle/>
          <a:p>
            <a:pPr algn="l">
              <a:lnSpc>
                <a:spcPct val="130000"/>
              </a:lnSpc>
            </a:pPr>
            <a:r>
              <a:rPr sz="1600" b="0" i="0">
                <a:solidFill>
                  <a:srgbClr val="1E261D"/>
                </a:solidFill>
                <a:latin typeface="Nunito Sans"/>
              </a:rPr>
              <a:t>people in our demo community came once and have not been back.</a:t>
            </a:r>
          </a:p>
        </p:txBody>
      </p:sp>
      <p:sp>
        <p:nvSpPr>
          <p:cNvPr id="6" name="Rounded Rectangle 5"/>
          <p:cNvSpPr/>
          <p:nvPr/>
        </p:nvSpPr>
        <p:spPr>
          <a:xfrm>
            <a:off x="6197600" y="2413000"/>
            <a:ext cx="5181600" cy="2794000"/>
          </a:xfrm>
          <a:prstGeom prst="roundRect">
            <a:avLst>
              <a:gd name="adj" fmla="val 6000"/>
            </a:avLst>
          </a:prstGeom>
          <a:solidFill>
            <a:srgbClr val="F3E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02400" y="2717800"/>
            <a:ext cx="4572000" cy="762000"/>
          </a:xfrm>
          <a:prstGeom prst="rect">
            <a:avLst/>
          </a:prstGeom>
          <a:noFill/>
        </p:spPr>
        <p:txBody>
          <a:bodyPr wrap="square" anchor="t" lIns="0" rIns="0" tIns="0" bIns="0">
            <a:spAutoFit/>
          </a:bodyPr>
          <a:lstStyle/>
          <a:p>
            <a:pPr algn="l">
              <a:lnSpc>
                <a:spcPct val="115000"/>
              </a:lnSpc>
            </a:pPr>
            <a:r>
              <a:rPr sz="2200" b="1" i="0">
                <a:solidFill>
                  <a:srgbClr val="1E261D"/>
                </a:solidFill>
                <a:latin typeface="Nunito Sans"/>
              </a:rPr>
              <a:t>A garden needs the same hands every month.</a:t>
            </a:r>
          </a:p>
        </p:txBody>
      </p:sp>
      <p:sp>
        <p:nvSpPr>
          <p:cNvPr id="8" name="TextBox 7"/>
          <p:cNvSpPr txBox="1"/>
          <p:nvPr/>
        </p:nvSpPr>
        <p:spPr>
          <a:xfrm>
            <a:off x="6502400" y="3810000"/>
            <a:ext cx="4572000" cy="1143000"/>
          </a:xfrm>
          <a:prstGeom prst="rect">
            <a:avLst/>
          </a:prstGeom>
          <a:noFill/>
        </p:spPr>
        <p:txBody>
          <a:bodyPr wrap="square" anchor="t" lIns="0" rIns="0" tIns="0" bIns="0">
            <a:spAutoFit/>
          </a:bodyPr>
          <a:lstStyle/>
          <a:p>
            <a:pPr algn="l">
              <a:lnSpc>
                <a:spcPct val="130000"/>
              </a:lnSpc>
            </a:pPr>
            <a:r>
              <a:rPr sz="1600" b="0" i="0">
                <a:solidFill>
                  <a:srgbClr val="4E5A4A"/>
                </a:solidFill>
                <a:latin typeface="Nunito Sans"/>
              </a:rPr>
              <a:t>Monthly work days, a free pantry and two big unconferences a year all run on volunteers who return.</a:t>
            </a:r>
          </a:p>
        </p:txBody>
      </p:sp>
      <p:sp>
        <p:nvSpPr>
          <p:cNvPr id="9" name="TextBox 8"/>
          <p:cNvSpPr txBox="1"/>
          <p:nvPr/>
        </p:nvSpPr>
        <p:spPr>
          <a:xfrm>
            <a:off x="812800" y="6045200"/>
            <a:ext cx="10566400" cy="254000"/>
          </a:xfrm>
          <a:prstGeom prst="rect">
            <a:avLst/>
          </a:prstGeom>
          <a:noFill/>
        </p:spPr>
        <p:txBody>
          <a:bodyPr wrap="square" anchor="t" lIns="0" rIns="0" tIns="0" bIns="0">
            <a:spAutoFit/>
          </a:bodyPr>
          <a:lstStyle/>
          <a:p>
            <a:pPr algn="l">
              <a:lnSpc>
                <a:spcPct val="115000"/>
              </a:lnSpc>
            </a:pPr>
            <a:r>
              <a:rPr sz="1200" b="0" i="0">
                <a:solidFill>
                  <a:srgbClr val="4E5A4A"/>
                </a:solidFill>
                <a:latin typeface="Nunito Sans"/>
              </a:rPr>
              <a:t>Demo figures use fictional volunteers. The Guild’s activities are from its hack brief.</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261D"/>
        </a:solidFill>
        <a:effectLst/>
      </p:bgPr>
    </p:bg>
    <p:spTree>
      <p:nvGrpSpPr>
        <p:cNvPr id="1" name=""/>
        <p:cNvGrpSpPr/>
        <p:nvPr/>
      </p:nvGrpSpPr>
      <p:grpSpPr/>
      <p:sp>
        <p:nvSpPr>
          <p:cNvPr id="2" name="TextBox 1"/>
          <p:cNvSpPr txBox="1"/>
          <p:nvPr/>
        </p:nvSpPr>
        <p:spPr>
          <a:xfrm>
            <a:off x="812800" y="812800"/>
            <a:ext cx="10566400" cy="635000"/>
          </a:xfrm>
          <a:prstGeom prst="rect">
            <a:avLst/>
          </a:prstGeom>
          <a:noFill/>
        </p:spPr>
        <p:txBody>
          <a:bodyPr wrap="square" anchor="t" lIns="0" rIns="0" tIns="0" bIns="0">
            <a:spAutoFit/>
          </a:bodyPr>
          <a:lstStyle/>
          <a:p>
            <a:pPr algn="l">
              <a:lnSpc>
                <a:spcPct val="115000"/>
              </a:lnSpc>
            </a:pPr>
            <a:r>
              <a:rPr sz="3600" b="1" i="0">
                <a:solidFill>
                  <a:srgbClr val="F3EFE4"/>
                </a:solidFill>
                <a:latin typeface="Domine"/>
              </a:rPr>
              <a:t>Roots gives people three reasons to stay.</a:t>
            </a:r>
          </a:p>
        </p:txBody>
      </p:sp>
      <p:sp>
        <p:nvSpPr>
          <p:cNvPr id="3" name="Rounded Rectangle 2"/>
          <p:cNvSpPr/>
          <p:nvPr/>
        </p:nvSpPr>
        <p:spPr>
          <a:xfrm>
            <a:off x="812800" y="1905000"/>
            <a:ext cx="3384550" cy="3048000"/>
          </a:xfrm>
          <a:prstGeom prst="roundRect">
            <a:avLst>
              <a:gd name="adj" fmla="val 6000"/>
            </a:avLst>
          </a:prstGeom>
          <a:solidFill>
            <a:srgbClr val="273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5200" y="1905000"/>
            <a:ext cx="3079750" cy="38100"/>
          </a:xfrm>
          <a:prstGeom prst="rect">
            <a:avLst/>
          </a:prstGeom>
          <a:solidFill>
            <a:srgbClr val="B9D2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7600" y="2209800"/>
            <a:ext cx="2794000" cy="254000"/>
          </a:xfrm>
          <a:prstGeom prst="rect">
            <a:avLst/>
          </a:prstGeom>
          <a:noFill/>
        </p:spPr>
        <p:txBody>
          <a:bodyPr wrap="square" anchor="t" lIns="0" rIns="0" tIns="0" bIns="0">
            <a:spAutoFit/>
          </a:bodyPr>
          <a:lstStyle/>
          <a:p>
            <a:pPr algn="l">
              <a:lnSpc>
                <a:spcPct val="115000"/>
              </a:lnSpc>
            </a:pPr>
            <a:r>
              <a:rPr sz="1200" b="1" i="0">
                <a:solidFill>
                  <a:srgbClr val="B9D29C"/>
                </a:solidFill>
                <a:latin typeface="Nunito Sans"/>
              </a:rPr>
              <a:t>1 · FIRST</a:t>
            </a:r>
          </a:p>
        </p:txBody>
      </p:sp>
      <p:sp>
        <p:nvSpPr>
          <p:cNvPr id="6" name="TextBox 5"/>
          <p:cNvSpPr txBox="1"/>
          <p:nvPr/>
        </p:nvSpPr>
        <p:spPr>
          <a:xfrm>
            <a:off x="1117600" y="2571750"/>
            <a:ext cx="2794000" cy="698500"/>
          </a:xfrm>
          <a:prstGeom prst="rect">
            <a:avLst/>
          </a:prstGeom>
          <a:noFill/>
        </p:spPr>
        <p:txBody>
          <a:bodyPr wrap="square" anchor="t" lIns="0" rIns="0" tIns="0" bIns="0">
            <a:spAutoFit/>
          </a:bodyPr>
          <a:lstStyle/>
          <a:p>
            <a:pPr algn="l">
              <a:lnSpc>
                <a:spcPct val="110000"/>
              </a:lnSpc>
            </a:pPr>
            <a:r>
              <a:rPr sz="2000" b="1" i="0">
                <a:solidFill>
                  <a:srgbClr val="F3EFE4"/>
                </a:solidFill>
                <a:latin typeface="Nunito Sans"/>
              </a:rPr>
              <a:t>Hours that count</a:t>
            </a:r>
          </a:p>
        </p:txBody>
      </p:sp>
      <p:sp>
        <p:nvSpPr>
          <p:cNvPr id="7" name="TextBox 6"/>
          <p:cNvSpPr txBox="1"/>
          <p:nvPr/>
        </p:nvSpPr>
        <p:spPr>
          <a:xfrm>
            <a:off x="1117600" y="3397250"/>
            <a:ext cx="2794000" cy="1460500"/>
          </a:xfrm>
          <a:prstGeom prst="rect">
            <a:avLst/>
          </a:prstGeom>
          <a:noFill/>
        </p:spPr>
        <p:txBody>
          <a:bodyPr wrap="square" anchor="t" lIns="0" rIns="0" tIns="0" bIns="0">
            <a:spAutoFit/>
          </a:bodyPr>
          <a:lstStyle/>
          <a:p>
            <a:pPr algn="l">
              <a:lnSpc>
                <a:spcPct val="130000"/>
              </a:lnSpc>
            </a:pPr>
            <a:r>
              <a:rPr sz="1500" b="0" i="0">
                <a:solidFill>
                  <a:srgbClr val="C9D6C0"/>
                </a:solidFill>
                <a:latin typeface="Nunito Sans"/>
              </a:rPr>
              <a:t>School hours, FFA, college credit, CalFresh. A benefit for the person, not just the garden.</a:t>
            </a:r>
          </a:p>
        </p:txBody>
      </p:sp>
      <p:sp>
        <p:nvSpPr>
          <p:cNvPr id="8" name="Rounded Rectangle 7"/>
          <p:cNvSpPr/>
          <p:nvPr/>
        </p:nvSpPr>
        <p:spPr>
          <a:xfrm>
            <a:off x="4400550" y="1905000"/>
            <a:ext cx="3384550" cy="3048000"/>
          </a:xfrm>
          <a:prstGeom prst="roundRect">
            <a:avLst>
              <a:gd name="adj" fmla="val 6000"/>
            </a:avLst>
          </a:prstGeom>
          <a:solidFill>
            <a:srgbClr val="273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52950" y="1905000"/>
            <a:ext cx="3079750" cy="38100"/>
          </a:xfrm>
          <a:prstGeom prst="rect">
            <a:avLst/>
          </a:prstGeom>
          <a:solidFill>
            <a:srgbClr val="B9D2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05350" y="2209800"/>
            <a:ext cx="2794000" cy="254000"/>
          </a:xfrm>
          <a:prstGeom prst="rect">
            <a:avLst/>
          </a:prstGeom>
          <a:noFill/>
        </p:spPr>
        <p:txBody>
          <a:bodyPr wrap="square" anchor="t" lIns="0" rIns="0" tIns="0" bIns="0">
            <a:spAutoFit/>
          </a:bodyPr>
          <a:lstStyle/>
          <a:p>
            <a:pPr algn="l">
              <a:lnSpc>
                <a:spcPct val="115000"/>
              </a:lnSpc>
            </a:pPr>
            <a:r>
              <a:rPr sz="1200" b="1" i="0">
                <a:solidFill>
                  <a:srgbClr val="B9D29C"/>
                </a:solidFill>
                <a:latin typeface="Nunito Sans"/>
              </a:rPr>
              <a:t>2 · THEN</a:t>
            </a:r>
          </a:p>
        </p:txBody>
      </p:sp>
      <p:sp>
        <p:nvSpPr>
          <p:cNvPr id="11" name="TextBox 10"/>
          <p:cNvSpPr txBox="1"/>
          <p:nvPr/>
        </p:nvSpPr>
        <p:spPr>
          <a:xfrm>
            <a:off x="4705350" y="2571750"/>
            <a:ext cx="2794000" cy="698500"/>
          </a:xfrm>
          <a:prstGeom prst="rect">
            <a:avLst/>
          </a:prstGeom>
          <a:noFill/>
        </p:spPr>
        <p:txBody>
          <a:bodyPr wrap="square" anchor="t" lIns="0" rIns="0" tIns="0" bIns="0">
            <a:spAutoFit/>
          </a:bodyPr>
          <a:lstStyle/>
          <a:p>
            <a:pPr algn="l">
              <a:lnSpc>
                <a:spcPct val="110000"/>
              </a:lnSpc>
            </a:pPr>
            <a:r>
              <a:rPr sz="2000" b="1" i="0">
                <a:solidFill>
                  <a:srgbClr val="F3EFE4"/>
                </a:solidFill>
                <a:latin typeface="Nunito Sans"/>
              </a:rPr>
              <a:t>A personal nudge</a:t>
            </a:r>
          </a:p>
        </p:txBody>
      </p:sp>
      <p:sp>
        <p:nvSpPr>
          <p:cNvPr id="12" name="TextBox 11"/>
          <p:cNvSpPr txBox="1"/>
          <p:nvPr/>
        </p:nvSpPr>
        <p:spPr>
          <a:xfrm>
            <a:off x="4705350" y="3397250"/>
            <a:ext cx="2794000" cy="1460500"/>
          </a:xfrm>
          <a:prstGeom prst="rect">
            <a:avLst/>
          </a:prstGeom>
          <a:noFill/>
        </p:spPr>
        <p:txBody>
          <a:bodyPr wrap="square" anchor="t" lIns="0" rIns="0" tIns="0" bIns="0">
            <a:spAutoFit/>
          </a:bodyPr>
          <a:lstStyle/>
          <a:p>
            <a:pPr algn="l">
              <a:lnSpc>
                <a:spcPct val="130000"/>
              </a:lnSpc>
            </a:pPr>
            <a:r>
              <a:rPr sz="1500" b="0" i="0">
                <a:solidFill>
                  <a:srgbClr val="C9D6C0"/>
                </a:solidFill>
                <a:latin typeface="Nunito Sans"/>
              </a:rPr>
              <a:t>AI learns what each person wants and drafts the SMS. A coordinator checks and sends it.</a:t>
            </a:r>
          </a:p>
        </p:txBody>
      </p:sp>
      <p:sp>
        <p:nvSpPr>
          <p:cNvPr id="13" name="Rounded Rectangle 12"/>
          <p:cNvSpPr/>
          <p:nvPr/>
        </p:nvSpPr>
        <p:spPr>
          <a:xfrm>
            <a:off x="7988300" y="1905000"/>
            <a:ext cx="3384550" cy="3048000"/>
          </a:xfrm>
          <a:prstGeom prst="roundRect">
            <a:avLst>
              <a:gd name="adj" fmla="val 6000"/>
            </a:avLst>
          </a:prstGeom>
          <a:solidFill>
            <a:srgbClr val="273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40700" y="1905000"/>
            <a:ext cx="3079750" cy="38100"/>
          </a:xfrm>
          <a:prstGeom prst="rect">
            <a:avLst/>
          </a:prstGeom>
          <a:solidFill>
            <a:srgbClr val="E0A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93100" y="2209800"/>
            <a:ext cx="2794000" cy="254000"/>
          </a:xfrm>
          <a:prstGeom prst="rect">
            <a:avLst/>
          </a:prstGeom>
          <a:noFill/>
        </p:spPr>
        <p:txBody>
          <a:bodyPr wrap="square" anchor="t" lIns="0" rIns="0" tIns="0" bIns="0">
            <a:spAutoFit/>
          </a:bodyPr>
          <a:lstStyle/>
          <a:p>
            <a:pPr algn="l">
              <a:lnSpc>
                <a:spcPct val="115000"/>
              </a:lnSpc>
            </a:pPr>
            <a:r>
              <a:rPr sz="1200" b="1" i="0">
                <a:solidFill>
                  <a:srgbClr val="E0A85A"/>
                </a:solidFill>
                <a:latin typeface="Nunito Sans"/>
              </a:rPr>
              <a:t>3 · AND</a:t>
            </a:r>
          </a:p>
        </p:txBody>
      </p:sp>
      <p:sp>
        <p:nvSpPr>
          <p:cNvPr id="16" name="TextBox 15"/>
          <p:cNvSpPr txBox="1"/>
          <p:nvPr/>
        </p:nvSpPr>
        <p:spPr>
          <a:xfrm>
            <a:off x="8293100" y="2571750"/>
            <a:ext cx="2794000" cy="698500"/>
          </a:xfrm>
          <a:prstGeom prst="rect">
            <a:avLst/>
          </a:prstGeom>
          <a:noFill/>
        </p:spPr>
        <p:txBody>
          <a:bodyPr wrap="square" anchor="t" lIns="0" rIns="0" tIns="0" bIns="0">
            <a:spAutoFit/>
          </a:bodyPr>
          <a:lstStyle/>
          <a:p>
            <a:pPr algn="l">
              <a:lnSpc>
                <a:spcPct val="110000"/>
              </a:lnSpc>
            </a:pPr>
            <a:r>
              <a:rPr sz="2000" b="1" i="0">
                <a:solidFill>
                  <a:srgbClr val="F3EFE4"/>
                </a:solidFill>
                <a:latin typeface="Nunito Sans"/>
              </a:rPr>
              <a:t>Money for the garden</a:t>
            </a:r>
          </a:p>
        </p:txBody>
      </p:sp>
      <p:sp>
        <p:nvSpPr>
          <p:cNvPr id="17" name="TextBox 16"/>
          <p:cNvSpPr txBox="1"/>
          <p:nvPr/>
        </p:nvSpPr>
        <p:spPr>
          <a:xfrm>
            <a:off x="8293100" y="3397250"/>
            <a:ext cx="2794000" cy="1460500"/>
          </a:xfrm>
          <a:prstGeom prst="rect">
            <a:avLst/>
          </a:prstGeom>
          <a:noFill/>
        </p:spPr>
        <p:txBody>
          <a:bodyPr wrap="square" anchor="t" lIns="0" rIns="0" tIns="0" bIns="0">
            <a:spAutoFit/>
          </a:bodyPr>
          <a:lstStyle/>
          <a:p>
            <a:pPr algn="l">
              <a:lnSpc>
                <a:spcPct val="130000"/>
              </a:lnSpc>
            </a:pPr>
            <a:r>
              <a:rPr sz="1500" b="0" i="0">
                <a:solidFill>
                  <a:srgbClr val="C9D6C0"/>
                </a:solidFill>
                <a:latin typeface="Nunito Sans"/>
              </a:rPr>
              <a:t>Employer matching and grants fund more volunteer days.</a:t>
            </a:r>
          </a:p>
        </p:txBody>
      </p:sp>
      <p:sp>
        <p:nvSpPr>
          <p:cNvPr id="18" name="TextBox 17"/>
          <p:cNvSpPr txBox="1"/>
          <p:nvPr/>
        </p:nvSpPr>
        <p:spPr>
          <a:xfrm>
            <a:off x="812800" y="5334000"/>
            <a:ext cx="10566400" cy="381000"/>
          </a:xfrm>
          <a:prstGeom prst="rect">
            <a:avLst/>
          </a:prstGeom>
          <a:noFill/>
        </p:spPr>
        <p:txBody>
          <a:bodyPr wrap="square" anchor="t" lIns="0" rIns="0" tIns="0" bIns="0">
            <a:spAutoFit/>
          </a:bodyPr>
          <a:lstStyle/>
          <a:p>
            <a:pPr algn="l">
              <a:lnSpc>
                <a:spcPct val="115000"/>
              </a:lnSpc>
            </a:pPr>
            <a:r>
              <a:rPr sz="1600" b="0" i="0">
                <a:solidFill>
                  <a:srgbClr val="B9D29C"/>
                </a:solidFill>
                <a:latin typeface="Nunito Sans"/>
              </a:rPr>
              <a:t>Benefits → return visits → logged hours → funding → more volunteer days.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EFE4"/>
        </a:solidFill>
        <a:effectLst/>
      </p:bgPr>
    </p:bg>
    <p:spTree>
      <p:nvGrpSpPr>
        <p:cNvPr id="1" name=""/>
        <p:cNvGrpSpPr/>
        <p:nvPr/>
      </p:nvGrpSpPr>
      <p:grpSpPr/>
      <p:sp>
        <p:nvSpPr>
          <p:cNvPr id="2" name="TextBox 1"/>
          <p:cNvSpPr txBox="1"/>
          <p:nvPr/>
        </p:nvSpPr>
        <p:spPr>
          <a:xfrm>
            <a:off x="812800" y="812800"/>
            <a:ext cx="10566400" cy="635000"/>
          </a:xfrm>
          <a:prstGeom prst="rect">
            <a:avLst/>
          </a:prstGeom>
          <a:noFill/>
        </p:spPr>
        <p:txBody>
          <a:bodyPr wrap="square" anchor="t" lIns="0" rIns="0" tIns="0" bIns="0">
            <a:spAutoFit/>
          </a:bodyPr>
          <a:lstStyle/>
          <a:p>
            <a:pPr algn="l">
              <a:lnSpc>
                <a:spcPct val="115000"/>
              </a:lnSpc>
            </a:pPr>
            <a:r>
              <a:rPr sz="3600" b="1" i="0">
                <a:solidFill>
                  <a:srgbClr val="1E261D"/>
                </a:solidFill>
                <a:latin typeface="Domine"/>
              </a:rPr>
              <a:t>AI that knows your people</a:t>
            </a:r>
          </a:p>
        </p:txBody>
      </p:sp>
      <p:sp>
        <p:nvSpPr>
          <p:cNvPr id="3" name="TextBox 2"/>
          <p:cNvSpPr txBox="1"/>
          <p:nvPr/>
        </p:nvSpPr>
        <p:spPr>
          <a:xfrm>
            <a:off x="812800" y="1841500"/>
            <a:ext cx="4826000" cy="635000"/>
          </a:xfrm>
          <a:prstGeom prst="rect">
            <a:avLst/>
          </a:prstGeom>
          <a:noFill/>
        </p:spPr>
        <p:txBody>
          <a:bodyPr wrap="square" anchor="t" lIns="0" rIns="0" tIns="0" bIns="0">
            <a:spAutoFit/>
          </a:bodyPr>
          <a:lstStyle/>
          <a:p>
            <a:pPr algn="l">
              <a:lnSpc>
                <a:spcPct val="130000"/>
              </a:lnSpc>
            </a:pPr>
            <a:r>
              <a:rPr sz="1600" b="0" i="0">
                <a:solidFill>
                  <a:srgbClr val="1E261D"/>
                </a:solidFill>
                <a:latin typeface="Nunito Sans"/>
              </a:rPr>
              <a:t>A new five-step sign-up in Garden Steward asks what Roots needs to know:</a:t>
            </a:r>
          </a:p>
        </p:txBody>
      </p:sp>
      <p:sp>
        <p:nvSpPr>
          <p:cNvPr id="4" name="TextBox 3"/>
          <p:cNvSpPr txBox="1"/>
          <p:nvPr/>
        </p:nvSpPr>
        <p:spPr>
          <a:xfrm>
            <a:off x="812800" y="2603500"/>
            <a:ext cx="4826000" cy="2095500"/>
          </a:xfrm>
          <a:prstGeom prst="rect">
            <a:avLst/>
          </a:prstGeom>
          <a:noFill/>
        </p:spPr>
        <p:txBody>
          <a:bodyPr wrap="square" anchor="t" lIns="0" rIns="0" tIns="0" bIns="0">
            <a:spAutoFit/>
          </a:bodyPr>
          <a:lstStyle/>
          <a:p>
            <a:pPr algn="l">
              <a:lnSpc>
                <a:spcPct val="130000"/>
              </a:lnSpc>
            </a:pPr>
            <a:r>
              <a:rPr sz="1600" b="0" i="0">
                <a:solidFill>
                  <a:srgbClr val="4E5A4A"/>
                </a:solidFill>
                <a:latin typeface="Nunito Sans"/>
              </a:rPr>
              <a:t>•  What they enjoy, and when they are free</a:t>
            </a:r>
          </a:p>
          <a:p>
            <a:pPr algn="l">
              <a:lnSpc>
                <a:spcPct val="130000"/>
              </a:lnSpc>
            </a:pPr>
            <a:r>
              <a:rPr sz="1600" b="0" i="0">
                <a:solidFill>
                  <a:srgbClr val="4E5A4A"/>
                </a:solidFill>
                <a:latin typeface="Nunito Sans"/>
              </a:rPr>
              <a:t>•  Where they work, plus a LinkedIn link</a:t>
            </a:r>
          </a:p>
          <a:p>
            <a:pPr algn="l">
              <a:lnSpc>
                <a:spcPct val="130000"/>
              </a:lnSpc>
            </a:pPr>
            <a:r>
              <a:rPr sz="1600" b="0" i="0">
                <a:solidFill>
                  <a:srgbClr val="4E5A4A"/>
                </a:solidFill>
                <a:latin typeface="Nunito Sans"/>
              </a:rPr>
              <a:t>•  Whether their hours could count for school, FFA, college or CalFresh</a:t>
            </a:r>
          </a:p>
          <a:p>
            <a:pPr algn="l">
              <a:lnSpc>
                <a:spcPct val="130000"/>
              </a:lnSpc>
            </a:pPr>
            <a:r>
              <a:rPr sz="1600" b="0" i="0">
                <a:solidFill>
                  <a:srgbClr val="4E5A4A"/>
                </a:solidFill>
                <a:latin typeface="Nunito Sans"/>
              </a:rPr>
              <a:t>•  Permission to text and email</a:t>
            </a:r>
          </a:p>
        </p:txBody>
      </p:sp>
      <p:sp>
        <p:nvSpPr>
          <p:cNvPr id="5" name="TextBox 4"/>
          <p:cNvSpPr txBox="1"/>
          <p:nvPr/>
        </p:nvSpPr>
        <p:spPr>
          <a:xfrm>
            <a:off x="812800" y="5016500"/>
            <a:ext cx="4826000" cy="635000"/>
          </a:xfrm>
          <a:prstGeom prst="rect">
            <a:avLst/>
          </a:prstGeom>
          <a:noFill/>
        </p:spPr>
        <p:txBody>
          <a:bodyPr wrap="square" anchor="t" lIns="0" rIns="0" tIns="0" bIns="0">
            <a:spAutoFit/>
          </a:bodyPr>
          <a:lstStyle/>
          <a:p>
            <a:pPr algn="l">
              <a:lnSpc>
                <a:spcPct val="130000"/>
              </a:lnSpc>
            </a:pPr>
            <a:r>
              <a:rPr sz="1600" b="1" i="0">
                <a:solidFill>
                  <a:srgbClr val="3F6B3A"/>
                </a:solidFill>
                <a:latin typeface="Nunito Sans"/>
              </a:rPr>
              <a:t>Every answer lands on their profile, so Roots can match them.</a:t>
            </a:r>
          </a:p>
        </p:txBody>
      </p:sp>
      <p:sp>
        <p:nvSpPr>
          <p:cNvPr id="6" name="Rounded Rectangle 5"/>
          <p:cNvSpPr/>
          <p:nvPr/>
        </p:nvSpPr>
        <p:spPr>
          <a:xfrm>
            <a:off x="6045200" y="1841500"/>
            <a:ext cx="5334000" cy="3810000"/>
          </a:xfrm>
          <a:prstGeom prst="roundRect">
            <a:avLst>
              <a:gd name="adj" fmla="val 6000"/>
            </a:avLst>
          </a:prstGeom>
          <a:solidFill>
            <a:srgbClr val="E7E2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onboarding.png"/>
          <p:cNvPicPr>
            <a:picLocks noChangeAspect="1"/>
          </p:cNvPicPr>
          <p:nvPr/>
        </p:nvPicPr>
        <p:blipFill>
          <a:blip r:embed="rId2"/>
          <a:stretch>
            <a:fillRect/>
          </a:stretch>
        </p:blipFill>
        <p:spPr>
          <a:xfrm>
            <a:off x="6172200" y="1968500"/>
            <a:ext cx="5080000" cy="35687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7E2D3"/>
        </a:solidFill>
        <a:effectLst/>
      </p:bgPr>
    </p:bg>
    <p:spTree>
      <p:nvGrpSpPr>
        <p:cNvPr id="1" name=""/>
        <p:cNvGrpSpPr/>
        <p:nvPr/>
      </p:nvGrpSpPr>
      <p:grpSpPr/>
      <p:sp>
        <p:nvSpPr>
          <p:cNvPr id="2" name="TextBox 1"/>
          <p:cNvSpPr txBox="1"/>
          <p:nvPr/>
        </p:nvSpPr>
        <p:spPr>
          <a:xfrm>
            <a:off x="812800" y="812800"/>
            <a:ext cx="10566400" cy="635000"/>
          </a:xfrm>
          <a:prstGeom prst="rect">
            <a:avLst/>
          </a:prstGeom>
          <a:noFill/>
        </p:spPr>
        <p:txBody>
          <a:bodyPr wrap="square" anchor="t" lIns="0" rIns="0" tIns="0" bIns="0">
            <a:spAutoFit/>
          </a:bodyPr>
          <a:lstStyle/>
          <a:p>
            <a:pPr algn="l">
              <a:lnSpc>
                <a:spcPct val="115000"/>
              </a:lnSpc>
            </a:pPr>
            <a:r>
              <a:rPr sz="3600" b="1" i="0">
                <a:solidFill>
                  <a:srgbClr val="1E261D"/>
                </a:solidFill>
                <a:latin typeface="Domine"/>
              </a:rPr>
              <a:t>Then a personal SMS, ready to send</a:t>
            </a:r>
          </a:p>
        </p:txBody>
      </p:sp>
      <p:sp>
        <p:nvSpPr>
          <p:cNvPr id="3" name="TextBox 2"/>
          <p:cNvSpPr txBox="1"/>
          <p:nvPr/>
        </p:nvSpPr>
        <p:spPr>
          <a:xfrm>
            <a:off x="812800" y="1905000"/>
            <a:ext cx="4572000" cy="2667000"/>
          </a:xfrm>
          <a:prstGeom prst="rect">
            <a:avLst/>
          </a:prstGeom>
          <a:noFill/>
        </p:spPr>
        <p:txBody>
          <a:bodyPr wrap="square" anchor="t" lIns="0" rIns="0" tIns="0" bIns="0">
            <a:spAutoFit/>
          </a:bodyPr>
          <a:lstStyle/>
          <a:p>
            <a:pPr algn="l">
              <a:lnSpc>
                <a:spcPct val="140000"/>
              </a:lnSpc>
            </a:pPr>
            <a:r>
              <a:rPr sz="1600" b="0" i="0">
                <a:solidFill>
                  <a:srgbClr val="4E5A4A"/>
                </a:solidFill>
                <a:latin typeface="Nunito Sans"/>
              </a:rPr>
              <a:t>1.  Roots notices who could benefit today</a:t>
            </a:r>
          </a:p>
          <a:p>
            <a:pPr algn="l">
              <a:lnSpc>
                <a:spcPct val="140000"/>
              </a:lnSpc>
            </a:pPr>
            <a:r>
              <a:rPr sz="1600" b="0" i="0">
                <a:solidFill>
                  <a:srgbClr val="4E5A4A"/>
                </a:solidFill>
                <a:latin typeface="Nunito Sans"/>
              </a:rPr>
              <a:t>2.  It drafts a message for each person</a:t>
            </a:r>
          </a:p>
          <a:p>
            <a:pPr algn="l">
              <a:lnSpc>
                <a:spcPct val="140000"/>
              </a:lnSpc>
            </a:pPr>
            <a:r>
              <a:rPr sz="1600" b="0" i="0">
                <a:solidFill>
                  <a:srgbClr val="4E5A4A"/>
                </a:solidFill>
                <a:latin typeface="Nunito Sans"/>
              </a:rPr>
              <a:t>3.  A coordinator edits, approves and sends</a:t>
            </a:r>
          </a:p>
          <a:p>
            <a:pPr algn="l">
              <a:lnSpc>
                <a:spcPct val="140000"/>
              </a:lnSpc>
            </a:pPr>
            <a:r>
              <a:rPr sz="1600" b="0" i="0">
                <a:solidFill>
                  <a:srgbClr val="4E5A4A"/>
                </a:solidFill>
                <a:latin typeface="Nunito Sans"/>
              </a:rPr>
              <a:t>4.  Text Roots on Telegram: “What needs attention today?”</a:t>
            </a:r>
          </a:p>
        </p:txBody>
      </p:sp>
      <p:sp>
        <p:nvSpPr>
          <p:cNvPr id="4" name="TextBox 3"/>
          <p:cNvSpPr txBox="1"/>
          <p:nvPr/>
        </p:nvSpPr>
        <p:spPr>
          <a:xfrm>
            <a:off x="812800" y="4826000"/>
            <a:ext cx="4572000" cy="381000"/>
          </a:xfrm>
          <a:prstGeom prst="rect">
            <a:avLst/>
          </a:prstGeom>
          <a:noFill/>
        </p:spPr>
        <p:txBody>
          <a:bodyPr wrap="square" anchor="t" lIns="0" rIns="0" tIns="0" bIns="0">
            <a:spAutoFit/>
          </a:bodyPr>
          <a:lstStyle/>
          <a:p>
            <a:pPr algn="l">
              <a:lnSpc>
                <a:spcPct val="115000"/>
              </a:lnSpc>
            </a:pPr>
            <a:r>
              <a:rPr sz="1600" b="1" i="0">
                <a:solidFill>
                  <a:srgbClr val="3F6B3A"/>
                </a:solidFill>
                <a:latin typeface="Nunito Sans"/>
              </a:rPr>
              <a:t>Nothing goes out until a person says so.</a:t>
            </a:r>
          </a:p>
        </p:txBody>
      </p:sp>
      <p:sp>
        <p:nvSpPr>
          <p:cNvPr id="5" name="Rounded Rectangle 4"/>
          <p:cNvSpPr/>
          <p:nvPr/>
        </p:nvSpPr>
        <p:spPr>
          <a:xfrm>
            <a:off x="5791200" y="1841500"/>
            <a:ext cx="5588000" cy="3556000"/>
          </a:xfrm>
          <a:prstGeom prst="roundRect">
            <a:avLst>
              <a:gd name="adj" fmla="val 6000"/>
            </a:avLst>
          </a:prstGeom>
          <a:solidFill>
            <a:srgbClr val="1E26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ell.png"/>
          <p:cNvPicPr>
            <a:picLocks noChangeAspect="1"/>
          </p:cNvPicPr>
          <p:nvPr/>
        </p:nvPicPr>
        <p:blipFill>
          <a:blip r:embed="rId2"/>
          <a:stretch>
            <a:fillRect/>
          </a:stretch>
        </p:blipFill>
        <p:spPr>
          <a:xfrm>
            <a:off x="5918200" y="1968500"/>
            <a:ext cx="5334000" cy="333375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EFE4"/>
        </a:solidFill>
        <a:effectLst/>
      </p:bgPr>
    </p:bg>
    <p:spTree>
      <p:nvGrpSpPr>
        <p:cNvPr id="1" name=""/>
        <p:cNvGrpSpPr/>
        <p:nvPr/>
      </p:nvGrpSpPr>
      <p:grpSpPr/>
      <p:sp>
        <p:nvSpPr>
          <p:cNvPr id="2" name="TextBox 1"/>
          <p:cNvSpPr txBox="1"/>
          <p:nvPr/>
        </p:nvSpPr>
        <p:spPr>
          <a:xfrm>
            <a:off x="812800" y="812800"/>
            <a:ext cx="10566400" cy="635000"/>
          </a:xfrm>
          <a:prstGeom prst="rect">
            <a:avLst/>
          </a:prstGeom>
          <a:noFill/>
        </p:spPr>
        <p:txBody>
          <a:bodyPr wrap="square" anchor="t" lIns="0" rIns="0" tIns="0" bIns="0">
            <a:spAutoFit/>
          </a:bodyPr>
          <a:lstStyle/>
          <a:p>
            <a:pPr algn="l">
              <a:lnSpc>
                <a:spcPct val="115000"/>
              </a:lnSpc>
            </a:pPr>
            <a:r>
              <a:rPr sz="3600" b="1" i="0">
                <a:solidFill>
                  <a:srgbClr val="1E261D"/>
                </a:solidFill>
                <a:latin typeface="Domine"/>
              </a:rPr>
              <a:t>Different reasons for different people</a:t>
            </a:r>
          </a:p>
        </p:txBody>
      </p:sp>
      <p:graphicFrame>
        <p:nvGraphicFramePr>
          <p:cNvPr id="3" name="Table 2"/>
          <p:cNvGraphicFramePr>
            <a:graphicFrameLocks noGrp="1"/>
          </p:cNvGraphicFramePr>
          <p:nvPr/>
        </p:nvGraphicFramePr>
        <p:xfrm>
          <a:off x="812800" y="1841500"/>
          <a:ext cx="10566400" cy="2794000"/>
        </p:xfrm>
        <a:graphic>
          <a:graphicData uri="http://schemas.openxmlformats.org/drawingml/2006/table">
            <a:tbl>
              <a:tblPr firstRow="1" bandRow="1">
                <a:tableStyleId>{5C22544A-7EE6-4342-B048-85BDC9FD1C3A}</a:tableStyleId>
              </a:tblPr>
              <a:tblGrid>
                <a:gridCol w="3175000"/>
                <a:gridCol w="5492750"/>
                <a:gridCol w="1898650"/>
              </a:tblGrid>
              <a:tr h="558800">
                <a:tc>
                  <a:txBody>
                    <a:bodyPr/>
                    <a:lstStyle/>
                    <a:p>
                      <a:pPr algn="l"/>
                      <a:r>
                        <a:rPr sz="1500" b="1">
                          <a:solidFill>
                            <a:srgbClr val="F3EFE4"/>
                          </a:solidFill>
                          <a:latin typeface="Nunito Sans"/>
                        </a:rPr>
                        <a:t>Who</a:t>
                      </a:r>
                    </a:p>
                  </a:txBody>
                  <a:tcPr>
                    <a:solidFill>
                      <a:srgbClr val="1E261D"/>
                    </a:solidFill>
                  </a:tcPr>
                </a:tc>
                <a:tc>
                  <a:txBody>
                    <a:bodyPr/>
                    <a:lstStyle/>
                    <a:p>
                      <a:pPr algn="l"/>
                      <a:r>
                        <a:rPr sz="1500" b="1">
                          <a:solidFill>
                            <a:srgbClr val="F3EFE4"/>
                          </a:solidFill>
                          <a:latin typeface="Nunito Sans"/>
                        </a:rPr>
                        <a:t>Why coming back pays off for them</a:t>
                      </a:r>
                    </a:p>
                  </a:txBody>
                  <a:tcPr>
                    <a:solidFill>
                      <a:srgbClr val="1E261D"/>
                    </a:solidFill>
                  </a:tcPr>
                </a:tc>
                <a:tc>
                  <a:txBody>
                    <a:bodyPr/>
                    <a:lstStyle/>
                    <a:p>
                      <a:pPr algn="r"/>
                      <a:r>
                        <a:rPr sz="1500" b="1">
                          <a:solidFill>
                            <a:srgbClr val="F3EFE4"/>
                          </a:solidFill>
                          <a:latin typeface="Nunito Sans"/>
                        </a:rPr>
                        <a:t>In the demo</a:t>
                      </a:r>
                    </a:p>
                  </a:txBody>
                  <a:tcPr>
                    <a:solidFill>
                      <a:srgbClr val="1E261D"/>
                    </a:solidFill>
                  </a:tcPr>
                </a:tc>
              </a:tr>
              <a:tr h="558800">
                <a:tc>
                  <a:txBody>
                    <a:bodyPr/>
                    <a:lstStyle/>
                    <a:p>
                      <a:pPr algn="l"/>
                      <a:r>
                        <a:rPr sz="1500" b="0">
                          <a:solidFill>
                            <a:srgbClr val="1E261D"/>
                          </a:solidFill>
                          <a:latin typeface="Nunito Sans"/>
                        </a:rPr>
                        <a:t>High-school students</a:t>
                      </a:r>
                    </a:p>
                  </a:txBody>
                  <a:tcPr>
                    <a:solidFill>
                      <a:srgbClr val="FBF8F0"/>
                    </a:solidFill>
                  </a:tcPr>
                </a:tc>
                <a:tc>
                  <a:txBody>
                    <a:bodyPr/>
                    <a:lstStyle/>
                    <a:p>
                      <a:pPr algn="l"/>
                      <a:r>
                        <a:rPr sz="1500" b="0">
                          <a:solidFill>
                            <a:srgbClr val="1E261D"/>
                          </a:solidFill>
                          <a:latin typeface="Nunito Sans"/>
                        </a:rPr>
                        <a:t>Service hours, and the State Seal of Civic Engagement</a:t>
                      </a:r>
                    </a:p>
                  </a:txBody>
                  <a:tcPr>
                    <a:solidFill>
                      <a:srgbClr val="FBF8F0"/>
                    </a:solidFill>
                  </a:tcPr>
                </a:tc>
                <a:tc>
                  <a:txBody>
                    <a:bodyPr/>
                    <a:lstStyle/>
                    <a:p>
                      <a:pPr algn="r"/>
                      <a:r>
                        <a:rPr sz="1500" b="0">
                          <a:solidFill>
                            <a:srgbClr val="1E261D"/>
                          </a:solidFill>
                          <a:latin typeface="Nunito Sans"/>
                        </a:rPr>
                        <a:t>8 · 5</a:t>
                      </a:r>
                    </a:p>
                  </a:txBody>
                  <a:tcPr>
                    <a:solidFill>
                      <a:srgbClr val="FBF8F0"/>
                    </a:solidFill>
                  </a:tcPr>
                </a:tc>
              </a:tr>
              <a:tr h="558800">
                <a:tc>
                  <a:txBody>
                    <a:bodyPr/>
                    <a:lstStyle/>
                    <a:p>
                      <a:pPr algn="l"/>
                      <a:r>
                        <a:rPr sz="1500" b="0">
                          <a:solidFill>
                            <a:srgbClr val="1E261D"/>
                          </a:solidFill>
                          <a:latin typeface="Nunito Sans"/>
                        </a:rPr>
                        <a:t>FFA students</a:t>
                      </a:r>
                    </a:p>
                  </a:txBody>
                  <a:tcPr>
                    <a:solidFill>
                      <a:srgbClr val="E7E2D3"/>
                    </a:solidFill>
                  </a:tcPr>
                </a:tc>
                <a:tc>
                  <a:txBody>
                    <a:bodyPr/>
                    <a:lstStyle/>
                    <a:p>
                      <a:pPr algn="l"/>
                      <a:r>
                        <a:rPr sz="1500" b="0">
                          <a:solidFill>
                            <a:srgbClr val="1E261D"/>
                          </a:solidFill>
                          <a:latin typeface="Nunito Sans"/>
                        </a:rPr>
                        <a:t>Garden shifts count as placement hours</a:t>
                      </a:r>
                    </a:p>
                  </a:txBody>
                  <a:tcPr>
                    <a:solidFill>
                      <a:srgbClr val="E7E2D3"/>
                    </a:solidFill>
                  </a:tcPr>
                </a:tc>
                <a:tc>
                  <a:txBody>
                    <a:bodyPr/>
                    <a:lstStyle/>
                    <a:p>
                      <a:pPr algn="r"/>
                      <a:r>
                        <a:rPr sz="1500" b="0">
                          <a:solidFill>
                            <a:srgbClr val="1E261D"/>
                          </a:solidFill>
                          <a:latin typeface="Nunito Sans"/>
                        </a:rPr>
                        <a:t>3</a:t>
                      </a:r>
                    </a:p>
                  </a:txBody>
                  <a:tcPr>
                    <a:solidFill>
                      <a:srgbClr val="E7E2D3"/>
                    </a:solidFill>
                  </a:tcPr>
                </a:tc>
              </a:tr>
              <a:tr h="558800">
                <a:tc>
                  <a:txBody>
                    <a:bodyPr/>
                    <a:lstStyle/>
                    <a:p>
                      <a:pPr algn="l"/>
                      <a:r>
                        <a:rPr sz="1500" b="0">
                          <a:solidFill>
                            <a:srgbClr val="1E261D"/>
                          </a:solidFill>
                          <a:latin typeface="Nunito Sans"/>
                        </a:rPr>
                        <a:t>Community-college students</a:t>
                      </a:r>
                    </a:p>
                  </a:txBody>
                  <a:tcPr>
                    <a:solidFill>
                      <a:srgbClr val="FBF8F0"/>
                    </a:solidFill>
                  </a:tcPr>
                </a:tc>
                <a:tc>
                  <a:txBody>
                    <a:bodyPr/>
                    <a:lstStyle/>
                    <a:p>
                      <a:pPr algn="l"/>
                      <a:r>
                        <a:rPr sz="1500" b="0">
                          <a:solidFill>
                            <a:srgbClr val="1E261D"/>
                          </a:solidFill>
                          <a:latin typeface="Nunito Sans"/>
                        </a:rPr>
                        <a:t>1 unit of credit for every 60 hours</a:t>
                      </a:r>
                    </a:p>
                  </a:txBody>
                  <a:tcPr>
                    <a:solidFill>
                      <a:srgbClr val="FBF8F0"/>
                    </a:solidFill>
                  </a:tcPr>
                </a:tc>
                <a:tc>
                  <a:txBody>
                    <a:bodyPr/>
                    <a:lstStyle/>
                    <a:p>
                      <a:pPr algn="r"/>
                      <a:r>
                        <a:rPr sz="1500" b="0">
                          <a:solidFill>
                            <a:srgbClr val="1E261D"/>
                          </a:solidFill>
                          <a:latin typeface="Nunito Sans"/>
                        </a:rPr>
                        <a:t>3</a:t>
                      </a:r>
                    </a:p>
                  </a:txBody>
                  <a:tcPr>
                    <a:solidFill>
                      <a:srgbClr val="FBF8F0"/>
                    </a:solidFill>
                  </a:tcPr>
                </a:tc>
              </a:tr>
              <a:tr h="558800">
                <a:tc>
                  <a:txBody>
                    <a:bodyPr/>
                    <a:lstStyle/>
                    <a:p>
                      <a:pPr algn="l"/>
                      <a:r>
                        <a:rPr sz="1500" b="0">
                          <a:solidFill>
                            <a:srgbClr val="1E261D"/>
                          </a:solidFill>
                          <a:latin typeface="Nunito Sans"/>
                        </a:rPr>
                        <a:t>People on CalFresh</a:t>
                      </a:r>
                    </a:p>
                  </a:txBody>
                  <a:tcPr>
                    <a:solidFill>
                      <a:srgbClr val="E7E2D3"/>
                    </a:solidFill>
                  </a:tcPr>
                </a:tc>
                <a:tc>
                  <a:txBody>
                    <a:bodyPr/>
                    <a:lstStyle/>
                    <a:p>
                      <a:pPr algn="l"/>
                      <a:r>
                        <a:rPr sz="1500" b="0">
                          <a:solidFill>
                            <a:srgbClr val="1E261D"/>
                          </a:solidFill>
                          <a:latin typeface="Nunito Sans"/>
                        </a:rPr>
                        <a:t>Volunteer hours count toward 80 hours a month</a:t>
                      </a:r>
                    </a:p>
                  </a:txBody>
                  <a:tcPr>
                    <a:solidFill>
                      <a:srgbClr val="E7E2D3"/>
                    </a:solidFill>
                  </a:tcPr>
                </a:tc>
                <a:tc>
                  <a:txBody>
                    <a:bodyPr/>
                    <a:lstStyle/>
                    <a:p>
                      <a:pPr algn="r"/>
                      <a:r>
                        <a:rPr sz="1500" b="0">
                          <a:solidFill>
                            <a:srgbClr val="1E261D"/>
                          </a:solidFill>
                          <a:latin typeface="Nunito Sans"/>
                        </a:rPr>
                        <a:t>4</a:t>
                      </a:r>
                    </a:p>
                  </a:txBody>
                  <a:tcPr>
                    <a:solidFill>
                      <a:srgbClr val="E7E2D3"/>
                    </a:solidFill>
                  </a:tcPr>
                </a:tc>
              </a:tr>
            </a:tbl>
          </a:graphicData>
        </a:graphic>
      </p:graphicFrame>
      <p:sp>
        <p:nvSpPr>
          <p:cNvPr id="4" name="TextBox 3"/>
          <p:cNvSpPr txBox="1"/>
          <p:nvPr/>
        </p:nvSpPr>
        <p:spPr>
          <a:xfrm>
            <a:off x="812800" y="4953000"/>
            <a:ext cx="10566400" cy="635000"/>
          </a:xfrm>
          <a:prstGeom prst="rect">
            <a:avLst/>
          </a:prstGeom>
          <a:noFill/>
        </p:spPr>
        <p:txBody>
          <a:bodyPr wrap="square" anchor="t" lIns="0" rIns="0" tIns="0" bIns="0">
            <a:spAutoFit/>
          </a:bodyPr>
          <a:lstStyle/>
          <a:p>
            <a:pPr algn="l">
              <a:lnSpc>
                <a:spcPct val="130000"/>
              </a:lnSpc>
            </a:pPr>
            <a:r>
              <a:rPr sz="1600" b="1" i="0">
                <a:solidFill>
                  <a:srgbClr val="3F6B3A"/>
                </a:solidFill>
                <a:latin typeface="Nunito Sans"/>
              </a:rPr>
              <a:t>12 volunteers could gain a benefit by coming back. Roots matches on what people recorded, never on guesses.</a:t>
            </a:r>
          </a:p>
        </p:txBody>
      </p:sp>
      <p:sp>
        <p:nvSpPr>
          <p:cNvPr id="5" name="TextBox 4"/>
          <p:cNvSpPr txBox="1"/>
          <p:nvPr/>
        </p:nvSpPr>
        <p:spPr>
          <a:xfrm>
            <a:off x="812800" y="6045200"/>
            <a:ext cx="10566400" cy="254000"/>
          </a:xfrm>
          <a:prstGeom prst="rect">
            <a:avLst/>
          </a:prstGeom>
          <a:noFill/>
        </p:spPr>
        <p:txBody>
          <a:bodyPr wrap="square" anchor="t" lIns="0" rIns="0" tIns="0" bIns="0">
            <a:spAutoFit/>
          </a:bodyPr>
          <a:lstStyle/>
          <a:p>
            <a:pPr algn="l">
              <a:lnSpc>
                <a:spcPct val="115000"/>
              </a:lnSpc>
            </a:pPr>
            <a:r>
              <a:rPr sz="1200" b="0" i="0">
                <a:solidFill>
                  <a:srgbClr val="4E5A4A"/>
                </a:solidFill>
                <a:latin typeface="Nunito Sans"/>
              </a:rPr>
              <a:t>Sources: California FFA, CDSS, Peralta colleges, CDE; checked 24–25 Oct 2026. High-school row: 8 with service goals, 5 seal candidates.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E261D"/>
        </a:solidFill>
        <a:effectLst/>
      </p:bgPr>
    </p:bg>
    <p:spTree>
      <p:nvGrpSpPr>
        <p:cNvPr id="1" name=""/>
        <p:cNvGrpSpPr/>
        <p:nvPr/>
      </p:nvGrpSpPr>
      <p:grpSpPr/>
      <p:sp>
        <p:nvSpPr>
          <p:cNvPr id="2" name="TextBox 1"/>
          <p:cNvSpPr txBox="1"/>
          <p:nvPr/>
        </p:nvSpPr>
        <p:spPr>
          <a:xfrm>
            <a:off x="812800" y="812800"/>
            <a:ext cx="10566400" cy="635000"/>
          </a:xfrm>
          <a:prstGeom prst="rect">
            <a:avLst/>
          </a:prstGeom>
          <a:noFill/>
        </p:spPr>
        <p:txBody>
          <a:bodyPr wrap="square" anchor="t" lIns="0" rIns="0" tIns="0" bIns="0">
            <a:spAutoFit/>
          </a:bodyPr>
          <a:lstStyle/>
          <a:p>
            <a:pPr algn="l">
              <a:lnSpc>
                <a:spcPct val="115000"/>
              </a:lnSpc>
            </a:pPr>
            <a:r>
              <a:rPr sz="3600" b="1" i="0">
                <a:solidFill>
                  <a:srgbClr val="F3EFE4"/>
                </a:solidFill>
                <a:latin typeface="Domine"/>
              </a:rPr>
              <a:t>Money that funds more volunteer days</a:t>
            </a:r>
          </a:p>
        </p:txBody>
      </p:sp>
      <p:sp>
        <p:nvSpPr>
          <p:cNvPr id="3" name="Rounded Rectangle 2"/>
          <p:cNvSpPr/>
          <p:nvPr/>
        </p:nvSpPr>
        <p:spPr>
          <a:xfrm>
            <a:off x="812800" y="1905000"/>
            <a:ext cx="3384550" cy="3556000"/>
          </a:xfrm>
          <a:prstGeom prst="roundRect">
            <a:avLst>
              <a:gd name="adj" fmla="val 6000"/>
            </a:avLst>
          </a:prstGeom>
          <a:solidFill>
            <a:srgbClr val="273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17600" y="2209800"/>
            <a:ext cx="2921000" cy="508000"/>
          </a:xfrm>
          <a:prstGeom prst="rect">
            <a:avLst/>
          </a:prstGeom>
          <a:noFill/>
        </p:spPr>
        <p:txBody>
          <a:bodyPr wrap="square" anchor="t" lIns="0" rIns="0" tIns="0" bIns="0">
            <a:spAutoFit/>
          </a:bodyPr>
          <a:lstStyle/>
          <a:p>
            <a:pPr algn="l">
              <a:lnSpc>
                <a:spcPct val="115000"/>
              </a:lnSpc>
            </a:pPr>
            <a:r>
              <a:rPr sz="2600" b="1" i="0">
                <a:solidFill>
                  <a:srgbClr val="E0A85A"/>
                </a:solidFill>
                <a:latin typeface="Domine"/>
              </a:rPr>
              <a:t>$25 an hour</a:t>
            </a:r>
          </a:p>
        </p:txBody>
      </p:sp>
      <p:sp>
        <p:nvSpPr>
          <p:cNvPr id="5" name="TextBox 4"/>
          <p:cNvSpPr txBox="1"/>
          <p:nvPr/>
        </p:nvSpPr>
        <p:spPr>
          <a:xfrm>
            <a:off x="1117600" y="2857500"/>
            <a:ext cx="2794000" cy="635000"/>
          </a:xfrm>
          <a:prstGeom prst="rect">
            <a:avLst/>
          </a:prstGeom>
          <a:noFill/>
        </p:spPr>
        <p:txBody>
          <a:bodyPr wrap="square" anchor="t" lIns="0" rIns="0" tIns="0" bIns="0">
            <a:spAutoFit/>
          </a:bodyPr>
          <a:lstStyle/>
          <a:p>
            <a:pPr algn="l">
              <a:lnSpc>
                <a:spcPct val="120000"/>
              </a:lnSpc>
            </a:pPr>
            <a:r>
              <a:rPr sz="1500" b="1" i="0">
                <a:solidFill>
                  <a:srgbClr val="F3EFE4"/>
                </a:solidFill>
                <a:latin typeface="Nunito Sans"/>
              </a:rPr>
              <a:t>Microsoft employee volunteer matching</a:t>
            </a:r>
          </a:p>
        </p:txBody>
      </p:sp>
      <p:sp>
        <p:nvSpPr>
          <p:cNvPr id="6" name="TextBox 5"/>
          <p:cNvSpPr txBox="1"/>
          <p:nvPr/>
        </p:nvSpPr>
        <p:spPr>
          <a:xfrm>
            <a:off x="1117600" y="3683000"/>
            <a:ext cx="2794000" cy="1524000"/>
          </a:xfrm>
          <a:prstGeom prst="rect">
            <a:avLst/>
          </a:prstGeom>
          <a:noFill/>
        </p:spPr>
        <p:txBody>
          <a:bodyPr wrap="square" anchor="t" lIns="0" rIns="0" tIns="0" bIns="0">
            <a:spAutoFit/>
          </a:bodyPr>
          <a:lstStyle/>
          <a:p>
            <a:pPr algn="l">
              <a:lnSpc>
                <a:spcPct val="130000"/>
              </a:lnSpc>
            </a:pPr>
            <a:r>
              <a:rPr sz="1500" b="0" i="0">
                <a:solidFill>
                  <a:srgbClr val="C9D6C0"/>
                </a:solidFill>
                <a:latin typeface="Nunito Sans"/>
              </a:rPr>
              <a:t>3 regulars work there. Where people work is why the sign-up asks.</a:t>
            </a:r>
          </a:p>
        </p:txBody>
      </p:sp>
      <p:sp>
        <p:nvSpPr>
          <p:cNvPr id="7" name="Rounded Rectangle 6"/>
          <p:cNvSpPr/>
          <p:nvPr/>
        </p:nvSpPr>
        <p:spPr>
          <a:xfrm>
            <a:off x="4400550" y="1905000"/>
            <a:ext cx="3384550" cy="3556000"/>
          </a:xfrm>
          <a:prstGeom prst="roundRect">
            <a:avLst>
              <a:gd name="adj" fmla="val 6000"/>
            </a:avLst>
          </a:prstGeom>
          <a:solidFill>
            <a:srgbClr val="273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05350" y="2209800"/>
            <a:ext cx="2921000" cy="508000"/>
          </a:xfrm>
          <a:prstGeom prst="rect">
            <a:avLst/>
          </a:prstGeom>
          <a:noFill/>
        </p:spPr>
        <p:txBody>
          <a:bodyPr wrap="square" anchor="t" lIns="0" rIns="0" tIns="0" bIns="0">
            <a:spAutoFit/>
          </a:bodyPr>
          <a:lstStyle/>
          <a:p>
            <a:pPr algn="l">
              <a:lnSpc>
                <a:spcPct val="115000"/>
              </a:lnSpc>
            </a:pPr>
            <a:r>
              <a:rPr sz="2600" b="1" i="0">
                <a:solidFill>
                  <a:srgbClr val="E0A85A"/>
                </a:solidFill>
                <a:latin typeface="Domine"/>
              </a:rPr>
              <a:t>$2.5k–$10k</a:t>
            </a:r>
          </a:p>
        </p:txBody>
      </p:sp>
      <p:sp>
        <p:nvSpPr>
          <p:cNvPr id="9" name="TextBox 8"/>
          <p:cNvSpPr txBox="1"/>
          <p:nvPr/>
        </p:nvSpPr>
        <p:spPr>
          <a:xfrm>
            <a:off x="4705350" y="2857500"/>
            <a:ext cx="2794000" cy="635000"/>
          </a:xfrm>
          <a:prstGeom prst="rect">
            <a:avLst/>
          </a:prstGeom>
          <a:noFill/>
        </p:spPr>
        <p:txBody>
          <a:bodyPr wrap="square" anchor="t" lIns="0" rIns="0" tIns="0" bIns="0">
            <a:spAutoFit/>
          </a:bodyPr>
          <a:lstStyle/>
          <a:p>
            <a:pPr algn="l">
              <a:lnSpc>
                <a:spcPct val="120000"/>
              </a:lnSpc>
            </a:pPr>
            <a:r>
              <a:rPr sz="1500" b="1" i="0">
                <a:solidFill>
                  <a:srgbClr val="F3EFE4"/>
                </a:solidFill>
                <a:latin typeface="Nunito Sans"/>
              </a:rPr>
              <a:t>CalAgPlate education grant</a:t>
            </a:r>
          </a:p>
        </p:txBody>
      </p:sp>
      <p:sp>
        <p:nvSpPr>
          <p:cNvPr id="10" name="TextBox 9"/>
          <p:cNvSpPr txBox="1"/>
          <p:nvPr/>
        </p:nvSpPr>
        <p:spPr>
          <a:xfrm>
            <a:off x="4705350" y="3683000"/>
            <a:ext cx="2794000" cy="1524000"/>
          </a:xfrm>
          <a:prstGeom prst="rect">
            <a:avLst/>
          </a:prstGeom>
          <a:noFill/>
        </p:spPr>
        <p:txBody>
          <a:bodyPr wrap="square" anchor="t" lIns="0" rIns="0" tIns="0" bIns="0">
            <a:spAutoFit/>
          </a:bodyPr>
          <a:lstStyle/>
          <a:p>
            <a:pPr algn="l">
              <a:lnSpc>
                <a:spcPct val="130000"/>
              </a:lnSpc>
            </a:pPr>
            <a:r>
              <a:rPr sz="1500" b="0" i="0">
                <a:solidFill>
                  <a:srgbClr val="C9D6C0"/>
                </a:solidFill>
                <a:latin typeface="Nunito Sans"/>
              </a:rPr>
              <a:t>20 students fit. It closes on 2 November.</a:t>
            </a:r>
          </a:p>
        </p:txBody>
      </p:sp>
      <p:sp>
        <p:nvSpPr>
          <p:cNvPr id="11" name="Rounded Rectangle 10"/>
          <p:cNvSpPr/>
          <p:nvPr/>
        </p:nvSpPr>
        <p:spPr>
          <a:xfrm>
            <a:off x="7988300" y="1905000"/>
            <a:ext cx="3384550" cy="3556000"/>
          </a:xfrm>
          <a:prstGeom prst="roundRect">
            <a:avLst>
              <a:gd name="adj" fmla="val 6000"/>
            </a:avLst>
          </a:prstGeom>
          <a:solidFill>
            <a:srgbClr val="273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93100" y="2209800"/>
            <a:ext cx="2921000" cy="508000"/>
          </a:xfrm>
          <a:prstGeom prst="rect">
            <a:avLst/>
          </a:prstGeom>
          <a:noFill/>
        </p:spPr>
        <p:txBody>
          <a:bodyPr wrap="square" anchor="t" lIns="0" rIns="0" tIns="0" bIns="0">
            <a:spAutoFit/>
          </a:bodyPr>
          <a:lstStyle/>
          <a:p>
            <a:pPr algn="l">
              <a:lnSpc>
                <a:spcPct val="115000"/>
              </a:lnSpc>
            </a:pPr>
            <a:r>
              <a:rPr sz="2600" b="1" i="0">
                <a:solidFill>
                  <a:srgbClr val="E0A85A"/>
                </a:solidFill>
                <a:latin typeface="Domine"/>
              </a:rPr>
              <a:t>Funded fellows</a:t>
            </a:r>
          </a:p>
        </p:txBody>
      </p:sp>
      <p:sp>
        <p:nvSpPr>
          <p:cNvPr id="13" name="TextBox 12"/>
          <p:cNvSpPr txBox="1"/>
          <p:nvPr/>
        </p:nvSpPr>
        <p:spPr>
          <a:xfrm>
            <a:off x="8293100" y="2857500"/>
            <a:ext cx="2794000" cy="635000"/>
          </a:xfrm>
          <a:prstGeom prst="rect">
            <a:avLst/>
          </a:prstGeom>
          <a:noFill/>
        </p:spPr>
        <p:txBody>
          <a:bodyPr wrap="square" anchor="t" lIns="0" rIns="0" tIns="0" bIns="0">
            <a:spAutoFit/>
          </a:bodyPr>
          <a:lstStyle/>
          <a:p>
            <a:pPr algn="l">
              <a:lnSpc>
                <a:spcPct val="120000"/>
              </a:lnSpc>
            </a:pPr>
            <a:r>
              <a:rPr sz="1500" b="1" i="0">
                <a:solidFill>
                  <a:srgbClr val="F3EFE4"/>
                </a:solidFill>
                <a:latin typeface="Nunito Sans"/>
              </a:rPr>
              <a:t>College Corps and Climate Action Corps</a:t>
            </a:r>
          </a:p>
        </p:txBody>
      </p:sp>
      <p:sp>
        <p:nvSpPr>
          <p:cNvPr id="14" name="TextBox 13"/>
          <p:cNvSpPr txBox="1"/>
          <p:nvPr/>
        </p:nvSpPr>
        <p:spPr>
          <a:xfrm>
            <a:off x="8293100" y="3683000"/>
            <a:ext cx="2794000" cy="1524000"/>
          </a:xfrm>
          <a:prstGeom prst="rect">
            <a:avLst/>
          </a:prstGeom>
          <a:noFill/>
        </p:spPr>
        <p:txBody>
          <a:bodyPr wrap="square" anchor="t" lIns="0" rIns="0" tIns="0" bIns="0">
            <a:spAutoFit/>
          </a:bodyPr>
          <a:lstStyle/>
          <a:p>
            <a:pPr algn="l">
              <a:lnSpc>
                <a:spcPct val="130000"/>
              </a:lnSpc>
            </a:pPr>
            <a:r>
              <a:rPr sz="1500" b="0" i="0">
                <a:solidFill>
                  <a:srgbClr val="C9D6C0"/>
                </a:solidFill>
                <a:latin typeface="Nunito Sans"/>
              </a:rPr>
              <a:t>Paid placements the garden can host. Next windows open in 2027.</a:t>
            </a:r>
          </a:p>
        </p:txBody>
      </p:sp>
      <p:sp>
        <p:nvSpPr>
          <p:cNvPr id="15" name="TextBox 14"/>
          <p:cNvSpPr txBox="1"/>
          <p:nvPr/>
        </p:nvSpPr>
        <p:spPr>
          <a:xfrm>
            <a:off x="812800" y="6045200"/>
            <a:ext cx="10566400" cy="254000"/>
          </a:xfrm>
          <a:prstGeom prst="rect">
            <a:avLst/>
          </a:prstGeom>
          <a:noFill/>
        </p:spPr>
        <p:txBody>
          <a:bodyPr wrap="square" anchor="t" lIns="0" rIns="0" tIns="0" bIns="0">
            <a:spAutoFit/>
          </a:bodyPr>
          <a:lstStyle/>
          <a:p>
            <a:pPr algn="l">
              <a:lnSpc>
                <a:spcPct val="115000"/>
              </a:lnSpc>
            </a:pPr>
            <a:r>
              <a:rPr sz="1200" b="0" i="0">
                <a:solidFill>
                  <a:srgbClr val="9FB096"/>
                </a:solidFill>
                <a:latin typeface="Nunito Sans"/>
              </a:rPr>
              <a:t>Published programme terms, checked 24–25 Oct 2026. Eligibility still needs confirming for each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EFE4"/>
        </a:solidFill>
        <a:effectLst/>
      </p:bgPr>
    </p:bg>
    <p:spTree>
      <p:nvGrpSpPr>
        <p:cNvPr id="1" name=""/>
        <p:cNvGrpSpPr/>
        <p:nvPr/>
      </p:nvGrpSpPr>
      <p:grpSpPr/>
      <p:sp>
        <p:nvSpPr>
          <p:cNvPr id="2" name="TextBox 1"/>
          <p:cNvSpPr txBox="1"/>
          <p:nvPr/>
        </p:nvSpPr>
        <p:spPr>
          <a:xfrm>
            <a:off x="812800" y="812800"/>
            <a:ext cx="10566400" cy="635000"/>
          </a:xfrm>
          <a:prstGeom prst="rect">
            <a:avLst/>
          </a:prstGeom>
          <a:noFill/>
        </p:spPr>
        <p:txBody>
          <a:bodyPr wrap="square" anchor="t" lIns="0" rIns="0" tIns="0" bIns="0">
            <a:spAutoFit/>
          </a:bodyPr>
          <a:lstStyle/>
          <a:p>
            <a:pPr algn="l">
              <a:lnSpc>
                <a:spcPct val="115000"/>
              </a:lnSpc>
            </a:pPr>
            <a:r>
              <a:rPr sz="3600" b="1" i="0">
                <a:solidFill>
                  <a:srgbClr val="1E261D"/>
                </a:solidFill>
                <a:latin typeface="Domine"/>
              </a:rPr>
              <a:t>Simple, affordable and personal</a:t>
            </a:r>
          </a:p>
        </p:txBody>
      </p:sp>
      <p:sp>
        <p:nvSpPr>
          <p:cNvPr id="3" name="Rounded Rectangle 2"/>
          <p:cNvSpPr/>
          <p:nvPr/>
        </p:nvSpPr>
        <p:spPr>
          <a:xfrm>
            <a:off x="812800" y="1841500"/>
            <a:ext cx="5181600" cy="1778000"/>
          </a:xfrm>
          <a:prstGeom prst="roundRect">
            <a:avLst>
              <a:gd name="adj" fmla="val 6000"/>
            </a:avLst>
          </a:prstGeom>
          <a:solidFill>
            <a:srgbClr val="E7E2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6800" y="2070100"/>
            <a:ext cx="4673600" cy="444500"/>
          </a:xfrm>
          <a:prstGeom prst="rect">
            <a:avLst/>
          </a:prstGeom>
          <a:noFill/>
        </p:spPr>
        <p:txBody>
          <a:bodyPr wrap="square" anchor="t" lIns="0" rIns="0" tIns="0" bIns="0">
            <a:spAutoFit/>
          </a:bodyPr>
          <a:lstStyle/>
          <a:p>
            <a:pPr algn="l">
              <a:lnSpc>
                <a:spcPct val="115000"/>
              </a:lnSpc>
            </a:pPr>
            <a:r>
              <a:rPr sz="2000" b="1" i="0">
                <a:solidFill>
                  <a:srgbClr val="1E261D"/>
                </a:solidFill>
                <a:latin typeface="Nunito Sans"/>
              </a:rPr>
              <a:t>Built into their tools</a:t>
            </a:r>
          </a:p>
        </p:txBody>
      </p:sp>
      <p:sp>
        <p:nvSpPr>
          <p:cNvPr id="5" name="TextBox 4"/>
          <p:cNvSpPr txBox="1"/>
          <p:nvPr/>
        </p:nvSpPr>
        <p:spPr>
          <a:xfrm>
            <a:off x="1066800" y="2603500"/>
            <a:ext cx="4673600" cy="889000"/>
          </a:xfrm>
          <a:prstGeom prst="rect">
            <a:avLst/>
          </a:prstGeom>
          <a:noFill/>
        </p:spPr>
        <p:txBody>
          <a:bodyPr wrap="square" anchor="t" lIns="0" rIns="0" tIns="0" bIns="0">
            <a:spAutoFit/>
          </a:bodyPr>
          <a:lstStyle/>
          <a:p>
            <a:pPr algn="l">
              <a:lnSpc>
                <a:spcPct val="130000"/>
              </a:lnSpc>
            </a:pPr>
            <a:r>
              <a:rPr sz="1500" b="0" i="0">
                <a:solidFill>
                  <a:srgbClr val="4E5A4A"/>
                </a:solidFill>
                <a:latin typeface="Nunito Sans"/>
              </a:rPr>
              <a:t>The sign-up lives in Garden Steward, the Guild’s own open-source platform.</a:t>
            </a:r>
          </a:p>
        </p:txBody>
      </p:sp>
      <p:sp>
        <p:nvSpPr>
          <p:cNvPr id="6" name="Rounded Rectangle 5"/>
          <p:cNvSpPr/>
          <p:nvPr/>
        </p:nvSpPr>
        <p:spPr>
          <a:xfrm>
            <a:off x="6197600" y="1841500"/>
            <a:ext cx="5181600" cy="1778000"/>
          </a:xfrm>
          <a:prstGeom prst="roundRect">
            <a:avLst>
              <a:gd name="adj" fmla="val 6000"/>
            </a:avLst>
          </a:prstGeom>
          <a:solidFill>
            <a:srgbClr val="E7E2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51600" y="2070100"/>
            <a:ext cx="4673600" cy="444500"/>
          </a:xfrm>
          <a:prstGeom prst="rect">
            <a:avLst/>
          </a:prstGeom>
          <a:noFill/>
        </p:spPr>
        <p:txBody>
          <a:bodyPr wrap="square" anchor="t" lIns="0" rIns="0" tIns="0" bIns="0">
            <a:spAutoFit/>
          </a:bodyPr>
          <a:lstStyle/>
          <a:p>
            <a:pPr algn="l">
              <a:lnSpc>
                <a:spcPct val="115000"/>
              </a:lnSpc>
            </a:pPr>
            <a:r>
              <a:rPr sz="2000" b="1" i="0">
                <a:solidFill>
                  <a:srgbClr val="1E261D"/>
                </a:solidFill>
                <a:latin typeface="Nunito Sans"/>
              </a:rPr>
              <a:t>A person approves every message</a:t>
            </a:r>
          </a:p>
        </p:txBody>
      </p:sp>
      <p:sp>
        <p:nvSpPr>
          <p:cNvPr id="8" name="TextBox 7"/>
          <p:cNvSpPr txBox="1"/>
          <p:nvPr/>
        </p:nvSpPr>
        <p:spPr>
          <a:xfrm>
            <a:off x="6451600" y="2603500"/>
            <a:ext cx="4673600" cy="889000"/>
          </a:xfrm>
          <a:prstGeom prst="rect">
            <a:avLst/>
          </a:prstGeom>
          <a:noFill/>
        </p:spPr>
        <p:txBody>
          <a:bodyPr wrap="square" anchor="t" lIns="0" rIns="0" tIns="0" bIns="0">
            <a:spAutoFit/>
          </a:bodyPr>
          <a:lstStyle/>
          <a:p>
            <a:pPr algn="l">
              <a:lnSpc>
                <a:spcPct val="130000"/>
              </a:lnSpc>
            </a:pPr>
            <a:r>
              <a:rPr sz="1500" b="0" i="0">
                <a:solidFill>
                  <a:srgbClr val="4E5A4A"/>
                </a:solidFill>
                <a:latin typeface="Nunito Sans"/>
              </a:rPr>
              <a:t>Roots drafts. A coordinator reviews and sends.</a:t>
            </a:r>
          </a:p>
        </p:txBody>
      </p:sp>
      <p:sp>
        <p:nvSpPr>
          <p:cNvPr id="9" name="Rounded Rectangle 8"/>
          <p:cNvSpPr/>
          <p:nvPr/>
        </p:nvSpPr>
        <p:spPr>
          <a:xfrm>
            <a:off x="812800" y="3810000"/>
            <a:ext cx="5181600" cy="1778000"/>
          </a:xfrm>
          <a:prstGeom prst="roundRect">
            <a:avLst>
              <a:gd name="adj" fmla="val 6000"/>
            </a:avLst>
          </a:prstGeom>
          <a:solidFill>
            <a:srgbClr val="E7E2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6800" y="4038600"/>
            <a:ext cx="4673600" cy="444500"/>
          </a:xfrm>
          <a:prstGeom prst="rect">
            <a:avLst/>
          </a:prstGeom>
          <a:noFill/>
        </p:spPr>
        <p:txBody>
          <a:bodyPr wrap="square" anchor="t" lIns="0" rIns="0" tIns="0" bIns="0">
            <a:spAutoFit/>
          </a:bodyPr>
          <a:lstStyle/>
          <a:p>
            <a:pPr algn="l">
              <a:lnSpc>
                <a:spcPct val="115000"/>
              </a:lnSpc>
            </a:pPr>
            <a:r>
              <a:rPr sz="2000" b="1" i="0">
                <a:solidFill>
                  <a:srgbClr val="1E261D"/>
                </a:solidFill>
                <a:latin typeface="Nunito Sans"/>
              </a:rPr>
              <a:t>Costs cents</a:t>
            </a:r>
          </a:p>
        </p:txBody>
      </p:sp>
      <p:sp>
        <p:nvSpPr>
          <p:cNvPr id="11" name="TextBox 10"/>
          <p:cNvSpPr txBox="1"/>
          <p:nvPr/>
        </p:nvSpPr>
        <p:spPr>
          <a:xfrm>
            <a:off x="1066800" y="4572000"/>
            <a:ext cx="4673600" cy="889000"/>
          </a:xfrm>
          <a:prstGeom prst="rect">
            <a:avLst/>
          </a:prstGeom>
          <a:noFill/>
        </p:spPr>
        <p:txBody>
          <a:bodyPr wrap="square" anchor="t" lIns="0" rIns="0" tIns="0" bIns="0">
            <a:spAutoFit/>
          </a:bodyPr>
          <a:lstStyle/>
          <a:p>
            <a:pPr algn="l">
              <a:lnSpc>
                <a:spcPct val="130000"/>
              </a:lnSpc>
            </a:pPr>
            <a:r>
              <a:rPr sz="1500" b="0" i="0">
                <a:solidFill>
                  <a:srgbClr val="4E5A4A"/>
                </a:solidFill>
                <a:latin typeface="Nunito Sans"/>
              </a:rPr>
              <a:t>Google Gemini Flash-Lite. A full test run cost a few cents.</a:t>
            </a:r>
          </a:p>
        </p:txBody>
      </p:sp>
      <p:sp>
        <p:nvSpPr>
          <p:cNvPr id="12" name="Rounded Rectangle 11"/>
          <p:cNvSpPr/>
          <p:nvPr/>
        </p:nvSpPr>
        <p:spPr>
          <a:xfrm>
            <a:off x="6197600" y="3810000"/>
            <a:ext cx="5181600" cy="1778000"/>
          </a:xfrm>
          <a:prstGeom prst="roundRect">
            <a:avLst>
              <a:gd name="adj" fmla="val 6000"/>
            </a:avLst>
          </a:prstGeom>
          <a:solidFill>
            <a:srgbClr val="E7E2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1600" y="4038600"/>
            <a:ext cx="4673600" cy="444500"/>
          </a:xfrm>
          <a:prstGeom prst="rect">
            <a:avLst/>
          </a:prstGeom>
          <a:noFill/>
        </p:spPr>
        <p:txBody>
          <a:bodyPr wrap="square" anchor="t" lIns="0" rIns="0" tIns="0" bIns="0">
            <a:spAutoFit/>
          </a:bodyPr>
          <a:lstStyle/>
          <a:p>
            <a:pPr algn="l">
              <a:lnSpc>
                <a:spcPct val="115000"/>
              </a:lnSpc>
            </a:pPr>
            <a:r>
              <a:rPr sz="2000" b="1" i="0">
                <a:solidFill>
                  <a:srgbClr val="1E261D"/>
                </a:solidFill>
                <a:latin typeface="Nunito Sans"/>
              </a:rPr>
              <a:t>True to their data</a:t>
            </a:r>
          </a:p>
        </p:txBody>
      </p:sp>
      <p:sp>
        <p:nvSpPr>
          <p:cNvPr id="14" name="TextBox 13"/>
          <p:cNvSpPr txBox="1"/>
          <p:nvPr/>
        </p:nvSpPr>
        <p:spPr>
          <a:xfrm>
            <a:off x="6451600" y="4572000"/>
            <a:ext cx="4673600" cy="889000"/>
          </a:xfrm>
          <a:prstGeom prst="rect">
            <a:avLst/>
          </a:prstGeom>
          <a:noFill/>
        </p:spPr>
        <p:txBody>
          <a:bodyPr wrap="square" anchor="t" lIns="0" rIns="0" tIns="0" bIns="0">
            <a:spAutoFit/>
          </a:bodyPr>
          <a:lstStyle/>
          <a:p>
            <a:pPr algn="l">
              <a:lnSpc>
                <a:spcPct val="130000"/>
              </a:lnSpc>
            </a:pPr>
            <a:r>
              <a:rPr sz="1500" b="0" i="0">
                <a:solidFill>
                  <a:srgbClr val="4E5A4A"/>
                </a:solidFill>
                <a:latin typeface="Nunito Sans"/>
              </a:rPr>
              <a:t>Matches use what people chose to share. LinkedIn is a link, never scraped.</a:t>
            </a:r>
          </a:p>
        </p:txBody>
      </p:sp>
      <p:sp>
        <p:nvSpPr>
          <p:cNvPr id="15" name="TextBox 14"/>
          <p:cNvSpPr txBox="1"/>
          <p:nvPr/>
        </p:nvSpPr>
        <p:spPr>
          <a:xfrm>
            <a:off x="812800" y="6045200"/>
            <a:ext cx="10566400" cy="254000"/>
          </a:xfrm>
          <a:prstGeom prst="rect">
            <a:avLst/>
          </a:prstGeom>
          <a:noFill/>
        </p:spPr>
        <p:txBody>
          <a:bodyPr wrap="square" anchor="t" lIns="0" rIns="0" tIns="0" bIns="0">
            <a:spAutoFit/>
          </a:bodyPr>
          <a:lstStyle/>
          <a:p>
            <a:pPr algn="l">
              <a:lnSpc>
                <a:spcPct val="115000"/>
              </a:lnSpc>
            </a:pPr>
            <a:r>
              <a:rPr sz="1200" b="0" i="0">
                <a:solidFill>
                  <a:srgbClr val="4E5A4A"/>
                </a:solidFill>
                <a:latin typeface="Nunito Sans"/>
              </a:rPr>
              <a:t>Demo uses fictional people. SMS delivery is not connected yet; demo messages go to a Telegram demo inbox.</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E261D"/>
        </a:solidFill>
        <a:effectLst/>
      </p:bgPr>
    </p:bg>
    <p:spTree>
      <p:nvGrpSpPr>
        <p:cNvPr id="1" name=""/>
        <p:cNvGrpSpPr/>
        <p:nvPr/>
      </p:nvGrpSpPr>
      <p:grpSpPr/>
      <p:sp>
        <p:nvSpPr>
          <p:cNvPr id="2" name="TextBox 1"/>
          <p:cNvSpPr txBox="1"/>
          <p:nvPr/>
        </p:nvSpPr>
        <p:spPr>
          <a:xfrm>
            <a:off x="812800" y="812800"/>
            <a:ext cx="10566400" cy="254000"/>
          </a:xfrm>
          <a:prstGeom prst="rect">
            <a:avLst/>
          </a:prstGeom>
          <a:noFill/>
        </p:spPr>
        <p:txBody>
          <a:bodyPr wrap="square" anchor="t" lIns="0" rIns="0" tIns="0" bIns="0">
            <a:spAutoFit/>
          </a:bodyPr>
          <a:lstStyle/>
          <a:p>
            <a:pPr algn="l">
              <a:lnSpc>
                <a:spcPct val="115000"/>
              </a:lnSpc>
            </a:pPr>
            <a:r>
              <a:rPr sz="1200" b="1" i="0">
                <a:solidFill>
                  <a:srgbClr val="B9D29C"/>
                </a:solidFill>
                <a:latin typeface="Nunito Sans"/>
              </a:rPr>
              <a:t>ROOTS</a:t>
            </a:r>
          </a:p>
        </p:txBody>
      </p:sp>
      <p:sp>
        <p:nvSpPr>
          <p:cNvPr id="3" name="TextBox 2"/>
          <p:cNvSpPr txBox="1"/>
          <p:nvPr/>
        </p:nvSpPr>
        <p:spPr>
          <a:xfrm>
            <a:off x="812800" y="2095500"/>
            <a:ext cx="9525000" cy="1841500"/>
          </a:xfrm>
          <a:prstGeom prst="rect">
            <a:avLst/>
          </a:prstGeom>
          <a:noFill/>
        </p:spPr>
        <p:txBody>
          <a:bodyPr wrap="square" anchor="t" lIns="0" rIns="0" tIns="0" bIns="0">
            <a:spAutoFit/>
          </a:bodyPr>
          <a:lstStyle/>
          <a:p>
            <a:pPr algn="l">
              <a:lnSpc>
                <a:spcPct val="105000"/>
              </a:lnSpc>
            </a:pPr>
            <a:r>
              <a:rPr sz="5500" b="1" i="0">
                <a:solidFill>
                  <a:srgbClr val="F3EFE4"/>
                </a:solidFill>
                <a:latin typeface="Domine"/>
              </a:rPr>
              <a:t>Every hour should count for something.</a:t>
            </a:r>
          </a:p>
        </p:txBody>
      </p:sp>
      <p:sp>
        <p:nvSpPr>
          <p:cNvPr id="4" name="TextBox 3"/>
          <p:cNvSpPr txBox="1"/>
          <p:nvPr/>
        </p:nvSpPr>
        <p:spPr>
          <a:xfrm>
            <a:off x="812800" y="4127500"/>
            <a:ext cx="9525000" cy="444500"/>
          </a:xfrm>
          <a:prstGeom prst="rect">
            <a:avLst/>
          </a:prstGeom>
          <a:noFill/>
        </p:spPr>
        <p:txBody>
          <a:bodyPr wrap="square" anchor="t" lIns="0" rIns="0" tIns="0" bIns="0">
            <a:spAutoFit/>
          </a:bodyPr>
          <a:lstStyle/>
          <a:p>
            <a:pPr algn="l">
              <a:lnSpc>
                <a:spcPct val="115000"/>
              </a:lnSpc>
            </a:pPr>
            <a:r>
              <a:rPr sz="2200" b="0" i="0">
                <a:solidFill>
                  <a:srgbClr val="B9D29C"/>
                </a:solidFill>
                <a:latin typeface="Nunito Sans"/>
              </a:rPr>
              <a:t>Let’s pilot it at the Guild’s next monthly work day.</a:t>
            </a:r>
          </a:p>
        </p:txBody>
      </p:sp>
      <p:sp>
        <p:nvSpPr>
          <p:cNvPr id="5" name="TextBox 4"/>
          <p:cNvSpPr txBox="1"/>
          <p:nvPr/>
        </p:nvSpPr>
        <p:spPr>
          <a:xfrm>
            <a:off x="812800" y="5651500"/>
            <a:ext cx="10566400" cy="381000"/>
          </a:xfrm>
          <a:prstGeom prst="rect">
            <a:avLst/>
          </a:prstGeom>
          <a:noFill/>
        </p:spPr>
        <p:txBody>
          <a:bodyPr wrap="square" anchor="t" lIns="0" rIns="0" tIns="0" bIns="0">
            <a:spAutoFit/>
          </a:bodyPr>
          <a:lstStyle/>
          <a:p>
            <a:pPr algn="l">
              <a:lnSpc>
                <a:spcPct val="115000"/>
              </a:lnSpc>
            </a:pPr>
            <a:r>
              <a:rPr sz="1600" b="0" i="0">
                <a:solidFill>
                  <a:srgbClr val="C9D6C0"/>
                </a:solidFill>
                <a:latin typeface="Nunito Sans"/>
              </a:rPr>
              <a:t>Next: connect SMS · register for employer matching · apply to CalAgPlate by 2 November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