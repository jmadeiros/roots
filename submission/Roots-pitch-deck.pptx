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Roots. We built this for the East Bay Permaculture Guild. Their big problem is not finding volunteers. It is getting them to come back. In four minutes we’ll show how Roots gives each person a reason to return, uses AI to know them and reach them, and finds money that funds more volunteer days.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Roots. The East Bay Permaculture Guild doesn’t struggle to find volunteers. It struggles to get them back. In our demo community, 8 of 35 people came once and never returned. The Guild asked for simple tools to welcome people, understand how they want to take part, and turn events into outreach. Under all of it is one problem: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Roots gives people three reasons to stay. First, hours that count: 12 volunteers could gain something by coming back, like school service hours, FFA placement hours, college credit or the CalFresh work rule. Second, a personal nudge: a new sign-up in Garden Steward learns what people want, Roots drafts a personal SMS, and a coordinator sends it. Third, money for the garden: Microsoft gives $25 for every hour an employee volunteers, and three regulars work there; the CalAgPlate grant fits 20 students and closes on 2 November. Each part feeds the next.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it works. People sign up in Garden Steward, the Guild’s own platform. It asks what they enjoy, when they’re free, where they work, and whether their hours could count. Then Roots notices who could benefit and writes a personal SMS. A coordinator checks it and presses send. In the demo, it lands in a Telegram demo inbox standing in for the volunteer’s phone. Now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hour should count for something, for the volunteer and for the garden. It lives in the Guild’s own tools, a person approves every message, and the AI costs cents. Our ask: let’s pilot Roots at the Guild’s next monthly work day.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61D"/>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anchor="t" lIns="0" rIns="0" tIns="0" bIns="0">
            <a:spAutoFit/>
          </a:bodyPr>
          <a:lstStyle/>
          <a:p>
            <a:pPr algn="l">
              <a:lnSpc>
                <a:spcPct val="115000"/>
              </a:lnSpc>
            </a:pPr>
            <a:r>
              <a:rPr sz="1200" b="1" i="0">
                <a:solidFill>
                  <a:srgbClr val="B9D29C"/>
                </a:solidFill>
                <a:latin typeface="Nunito Sans"/>
              </a:rPr>
              <a:t>EAST BAY PERMACULTURE GUILD · HACK FOR SOCIAL IMPACT 2026</a:t>
            </a:r>
          </a:p>
        </p:txBody>
      </p:sp>
      <p:sp>
        <p:nvSpPr>
          <p:cNvPr id="3" name="TextBox 2"/>
          <p:cNvSpPr txBox="1"/>
          <p:nvPr/>
        </p:nvSpPr>
        <p:spPr>
          <a:xfrm>
            <a:off x="812800" y="2095500"/>
            <a:ext cx="10566400" cy="889000"/>
          </a:xfrm>
          <a:prstGeom prst="rect">
            <a:avLst/>
          </a:prstGeom>
          <a:noFill/>
        </p:spPr>
        <p:txBody>
          <a:bodyPr wrap="square" anchor="t" lIns="0" rIns="0" tIns="0" bIns="0">
            <a:spAutoFit/>
          </a:bodyPr>
          <a:lstStyle/>
          <a:p>
            <a:pPr algn="l">
              <a:lnSpc>
                <a:spcPct val="115000"/>
              </a:lnSpc>
            </a:pPr>
            <a:r>
              <a:rPr sz="6000" b="1" i="0">
                <a:solidFill>
                  <a:srgbClr val="F3EFE4"/>
                </a:solidFill>
                <a:latin typeface="Domine"/>
              </a:rPr>
              <a:t>Roots</a:t>
            </a:r>
          </a:p>
        </p:txBody>
      </p:sp>
      <p:sp>
        <p:nvSpPr>
          <p:cNvPr id="4" name="TextBox 3"/>
          <p:cNvSpPr txBox="1"/>
          <p:nvPr/>
        </p:nvSpPr>
        <p:spPr>
          <a:xfrm>
            <a:off x="812800" y="3048000"/>
            <a:ext cx="10566400" cy="635000"/>
          </a:xfrm>
          <a:prstGeom prst="rect">
            <a:avLst/>
          </a:prstGeom>
          <a:noFill/>
        </p:spPr>
        <p:txBody>
          <a:bodyPr wrap="square" anchor="t" lIns="0" rIns="0" tIns="0" bIns="0">
            <a:spAutoFit/>
          </a:bodyPr>
          <a:lstStyle/>
          <a:p>
            <a:pPr algn="l">
              <a:lnSpc>
                <a:spcPct val="115000"/>
              </a:lnSpc>
            </a:pPr>
            <a:r>
              <a:rPr sz="3600" b="0" i="0">
                <a:solidFill>
                  <a:srgbClr val="B9D29C"/>
                </a:solidFill>
                <a:latin typeface="Domine"/>
              </a:rPr>
              <a:t>Volunteers who come back.</a:t>
            </a:r>
          </a:p>
        </p:txBody>
      </p:sp>
      <p:sp>
        <p:nvSpPr>
          <p:cNvPr id="5" name="TextBox 4"/>
          <p:cNvSpPr txBox="1"/>
          <p:nvPr/>
        </p:nvSpPr>
        <p:spPr>
          <a:xfrm>
            <a:off x="812800" y="3873500"/>
            <a:ext cx="7493000" cy="698500"/>
          </a:xfrm>
          <a:prstGeom prst="rect">
            <a:avLst/>
          </a:prstGeom>
          <a:noFill/>
        </p:spPr>
        <p:txBody>
          <a:bodyPr wrap="square" anchor="t" lIns="0" rIns="0" tIns="0" bIns="0">
            <a:spAutoFit/>
          </a:bodyPr>
          <a:lstStyle/>
          <a:p>
            <a:pPr algn="l">
              <a:lnSpc>
                <a:spcPct val="130000"/>
              </a:lnSpc>
            </a:pPr>
            <a:r>
              <a:rPr sz="1600" b="0" i="0">
                <a:solidFill>
                  <a:srgbClr val="C9D6C0"/>
                </a:solidFill>
                <a:latin typeface="Nunito Sans"/>
              </a:rPr>
              <a:t>Reasons that make every hour count, AI that knows your people, and money that funds more volunteer days.</a:t>
            </a:r>
          </a:p>
        </p:txBody>
      </p:sp>
      <p:sp>
        <p:nvSpPr>
          <p:cNvPr id="6" name="TextBox 5"/>
          <p:cNvSpPr txBox="1"/>
          <p:nvPr/>
        </p:nvSpPr>
        <p:spPr>
          <a:xfrm>
            <a:off x="812800" y="5791200"/>
            <a:ext cx="10566400" cy="254000"/>
          </a:xfrm>
          <a:prstGeom prst="rect">
            <a:avLst/>
          </a:prstGeom>
          <a:noFill/>
        </p:spPr>
        <p:txBody>
          <a:bodyPr wrap="square" anchor="t" lIns="0" rIns="0" tIns="0" bIns="0">
            <a:spAutoFit/>
          </a:bodyPr>
          <a:lstStyle/>
          <a:p>
            <a:pPr algn="l">
              <a:lnSpc>
                <a:spcPct val="115000"/>
              </a:lnSpc>
            </a:pPr>
            <a:r>
              <a:rPr sz="1200" b="0" i="0">
                <a:solidFill>
                  <a:srgbClr val="9FB096"/>
                </a:solidFill>
                <a:latin typeface="Nunito Sans"/>
              </a:rPr>
              <a:t>Built on Garden Steward · Demo uses fictional volunteers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7E2D3"/>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anchor="t" lIns="0" rIns="0" tIns="0" bIns="0">
            <a:spAutoFit/>
          </a:bodyPr>
          <a:lstStyle/>
          <a:p>
            <a:pPr algn="l">
              <a:lnSpc>
                <a:spcPct val="115000"/>
              </a:lnSpc>
            </a:pPr>
            <a:r>
              <a:rPr sz="1200" b="1" i="0">
                <a:solidFill>
                  <a:srgbClr val="3F6B3A"/>
                </a:solidFill>
                <a:latin typeface="Nunito Sans"/>
              </a:rPr>
              <a:t>THE GUILD’S CHALLENGE</a:t>
            </a:r>
          </a:p>
        </p:txBody>
      </p:sp>
      <p:sp>
        <p:nvSpPr>
          <p:cNvPr id="3" name="TextBox 2"/>
          <p:cNvSpPr txBox="1"/>
          <p:nvPr/>
        </p:nvSpPr>
        <p:spPr>
          <a:xfrm>
            <a:off x="812800" y="1206500"/>
            <a:ext cx="9525000" cy="1143000"/>
          </a:xfrm>
          <a:prstGeom prst="rect">
            <a:avLst/>
          </a:prstGeom>
          <a:noFill/>
        </p:spPr>
        <p:txBody>
          <a:bodyPr wrap="square" anchor="t" lIns="0" rIns="0" tIns="0" bIns="0">
            <a:spAutoFit/>
          </a:bodyPr>
          <a:lstStyle/>
          <a:p>
            <a:pPr algn="l">
              <a:lnSpc>
                <a:spcPct val="105000"/>
              </a:lnSpc>
            </a:pPr>
            <a:r>
              <a:rPr sz="3600" b="1" i="0">
                <a:solidFill>
                  <a:srgbClr val="1E261D"/>
                </a:solidFill>
                <a:latin typeface="Domine"/>
              </a:rPr>
              <a:t>People come once. Then life gets in the way.</a:t>
            </a:r>
          </a:p>
        </p:txBody>
      </p:sp>
      <p:sp>
        <p:nvSpPr>
          <p:cNvPr id="4" name="Rounded Rectangle 3"/>
          <p:cNvSpPr/>
          <p:nvPr/>
        </p:nvSpPr>
        <p:spPr>
          <a:xfrm>
            <a:off x="812800" y="2667000"/>
            <a:ext cx="5181600" cy="2794000"/>
          </a:xfrm>
          <a:prstGeom prst="roundRect">
            <a:avLst>
              <a:gd name="adj" fmla="val 6000"/>
            </a:avLst>
          </a:prstGeom>
          <a:solidFill>
            <a:srgbClr val="F3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7600" y="2971800"/>
            <a:ext cx="4572000" cy="889000"/>
          </a:xfrm>
          <a:prstGeom prst="rect">
            <a:avLst/>
          </a:prstGeom>
          <a:noFill/>
        </p:spPr>
        <p:txBody>
          <a:bodyPr wrap="square" anchor="t" lIns="0" rIns="0" tIns="0" bIns="0">
            <a:spAutoFit/>
          </a:bodyPr>
          <a:lstStyle/>
          <a:p>
            <a:pPr algn="l">
              <a:lnSpc>
                <a:spcPct val="115000"/>
              </a:lnSpc>
            </a:pPr>
            <a:r>
              <a:rPr sz="6000" b="1" i="0">
                <a:solidFill>
                  <a:srgbClr val="3F6B3A"/>
                </a:solidFill>
                <a:latin typeface="Domine"/>
              </a:rPr>
              <a:t>8 of 35</a:t>
            </a:r>
          </a:p>
        </p:txBody>
      </p:sp>
      <p:sp>
        <p:nvSpPr>
          <p:cNvPr id="6" name="TextBox 5"/>
          <p:cNvSpPr txBox="1"/>
          <p:nvPr/>
        </p:nvSpPr>
        <p:spPr>
          <a:xfrm>
            <a:off x="1117600" y="4000500"/>
            <a:ext cx="4572000" cy="1270000"/>
          </a:xfrm>
          <a:prstGeom prst="rect">
            <a:avLst/>
          </a:prstGeom>
          <a:noFill/>
        </p:spPr>
        <p:txBody>
          <a:bodyPr wrap="square" anchor="t" lIns="0" rIns="0" tIns="0" bIns="0">
            <a:spAutoFit/>
          </a:bodyPr>
          <a:lstStyle/>
          <a:p>
            <a:pPr algn="l">
              <a:lnSpc>
                <a:spcPct val="130000"/>
              </a:lnSpc>
            </a:pPr>
            <a:r>
              <a:rPr sz="1500" b="0" i="0">
                <a:solidFill>
                  <a:srgbClr val="1E261D"/>
                </a:solidFill>
                <a:latin typeface="Nunito Sans"/>
              </a:rPr>
              <a:t>people in our demo community came once and have not been back. A garden needs the same hands every month.</a:t>
            </a:r>
          </a:p>
        </p:txBody>
      </p:sp>
      <p:sp>
        <p:nvSpPr>
          <p:cNvPr id="7" name="Rounded Rectangle 6"/>
          <p:cNvSpPr/>
          <p:nvPr/>
        </p:nvSpPr>
        <p:spPr>
          <a:xfrm>
            <a:off x="6197600" y="2667000"/>
            <a:ext cx="5181600" cy="2794000"/>
          </a:xfrm>
          <a:prstGeom prst="roundRect">
            <a:avLst>
              <a:gd name="adj" fmla="val 6000"/>
            </a:avLst>
          </a:prstGeom>
          <a:solidFill>
            <a:srgbClr val="F3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02400" y="2971800"/>
            <a:ext cx="4572000" cy="1651000"/>
          </a:xfrm>
          <a:prstGeom prst="rect">
            <a:avLst/>
          </a:prstGeom>
          <a:noFill/>
        </p:spPr>
        <p:txBody>
          <a:bodyPr wrap="square" anchor="t" lIns="0" rIns="0" tIns="0" bIns="0">
            <a:spAutoFit/>
          </a:bodyPr>
          <a:lstStyle/>
          <a:p>
            <a:pPr algn="l">
              <a:lnSpc>
                <a:spcPct val="130000"/>
              </a:lnSpc>
            </a:pPr>
            <a:r>
              <a:rPr sz="1700" b="0" i="0">
                <a:solidFill>
                  <a:srgbClr val="1E261D"/>
                </a:solidFill>
                <a:latin typeface="Domine"/>
              </a:rPr>
              <a:t>“…welcome new members, understand how they want to participate, and turn event details into outreach ready for volunteer review.”</a:t>
            </a:r>
          </a:p>
        </p:txBody>
      </p:sp>
      <p:sp>
        <p:nvSpPr>
          <p:cNvPr id="9" name="TextBox 8"/>
          <p:cNvSpPr txBox="1"/>
          <p:nvPr/>
        </p:nvSpPr>
        <p:spPr>
          <a:xfrm>
            <a:off x="6502400" y="4826000"/>
            <a:ext cx="4572000" cy="381000"/>
          </a:xfrm>
          <a:prstGeom prst="rect">
            <a:avLst/>
          </a:prstGeom>
          <a:noFill/>
        </p:spPr>
        <p:txBody>
          <a:bodyPr wrap="square" anchor="t" lIns="0" rIns="0" tIns="0" bIns="0">
            <a:spAutoFit/>
          </a:bodyPr>
          <a:lstStyle/>
          <a:p>
            <a:pPr algn="l">
              <a:lnSpc>
                <a:spcPct val="115000"/>
              </a:lnSpc>
            </a:pPr>
            <a:r>
              <a:rPr sz="1400" b="0" i="0">
                <a:solidFill>
                  <a:srgbClr val="4E5A4A"/>
                </a:solidFill>
                <a:latin typeface="Nunito Sans"/>
              </a:rPr>
              <a:t>Affordable, easy to maintain, and personal.</a:t>
            </a:r>
          </a:p>
        </p:txBody>
      </p:sp>
      <p:sp>
        <p:nvSpPr>
          <p:cNvPr id="10" name="TextBox 9"/>
          <p:cNvSpPr txBox="1"/>
          <p:nvPr/>
        </p:nvSpPr>
        <p:spPr>
          <a:xfrm>
            <a:off x="812800" y="6045200"/>
            <a:ext cx="10566400" cy="254000"/>
          </a:xfrm>
          <a:prstGeom prst="rect">
            <a:avLst/>
          </a:prstGeom>
          <a:noFill/>
        </p:spPr>
        <p:txBody>
          <a:bodyPr wrap="square" anchor="t" lIns="0" rIns="0" tIns="0" bIns="0">
            <a:spAutoFit/>
          </a:bodyPr>
          <a:lstStyle/>
          <a:p>
            <a:pPr algn="l">
              <a:lnSpc>
                <a:spcPct val="115000"/>
              </a:lnSpc>
            </a:pPr>
            <a:r>
              <a:rPr sz="1200" b="0" i="0">
                <a:solidFill>
                  <a:srgbClr val="4E5A4A"/>
                </a:solidFill>
                <a:latin typeface="Nunito Sans"/>
              </a:rPr>
              <a:t>Quote: the Guild’s written challenge. Demo figures use fictional volunteers.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61D"/>
        </a:solidFill>
        <a:effectLst/>
      </p:bgPr>
    </p:bg>
    <p:spTree>
      <p:nvGrpSpPr>
        <p:cNvPr id="1" name=""/>
        <p:cNvGrpSpPr/>
        <p:nvPr/>
      </p:nvGrpSpPr>
      <p:grpSpPr/>
      <p:sp>
        <p:nvSpPr>
          <p:cNvPr id="2" name="TextBox 1"/>
          <p:cNvSpPr txBox="1"/>
          <p:nvPr/>
        </p:nvSpPr>
        <p:spPr>
          <a:xfrm>
            <a:off x="812800" y="812800"/>
            <a:ext cx="10566400" cy="635000"/>
          </a:xfrm>
          <a:prstGeom prst="rect">
            <a:avLst/>
          </a:prstGeom>
          <a:noFill/>
        </p:spPr>
        <p:txBody>
          <a:bodyPr wrap="square" anchor="t" lIns="0" rIns="0" tIns="0" bIns="0">
            <a:spAutoFit/>
          </a:bodyPr>
          <a:lstStyle/>
          <a:p>
            <a:pPr algn="l">
              <a:lnSpc>
                <a:spcPct val="115000"/>
              </a:lnSpc>
            </a:pPr>
            <a:r>
              <a:rPr sz="3600" b="1" i="0">
                <a:solidFill>
                  <a:srgbClr val="F3EFE4"/>
                </a:solidFill>
                <a:latin typeface="Domine"/>
              </a:rPr>
              <a:t>Roots gives people three reasons to stay.</a:t>
            </a:r>
          </a:p>
        </p:txBody>
      </p:sp>
      <p:sp>
        <p:nvSpPr>
          <p:cNvPr id="3" name="Rounded Rectangle 2"/>
          <p:cNvSpPr/>
          <p:nvPr/>
        </p:nvSpPr>
        <p:spPr>
          <a:xfrm>
            <a:off x="812800" y="1841500"/>
            <a:ext cx="3384550" cy="3302000"/>
          </a:xfrm>
          <a:prstGeom prst="roundRect">
            <a:avLst>
              <a:gd name="adj" fmla="val 6000"/>
            </a:avLst>
          </a:prstGeom>
          <a:solidFill>
            <a:srgbClr val="273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5200" y="1841500"/>
            <a:ext cx="3079750" cy="38100"/>
          </a:xfrm>
          <a:prstGeom prst="rect">
            <a:avLst/>
          </a:prstGeom>
          <a:solidFill>
            <a:srgbClr val="B9D2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7600" y="2146300"/>
            <a:ext cx="2921000" cy="254000"/>
          </a:xfrm>
          <a:prstGeom prst="rect">
            <a:avLst/>
          </a:prstGeom>
          <a:noFill/>
        </p:spPr>
        <p:txBody>
          <a:bodyPr wrap="square" anchor="t" lIns="0" rIns="0" tIns="0" bIns="0">
            <a:spAutoFit/>
          </a:bodyPr>
          <a:lstStyle/>
          <a:p>
            <a:pPr algn="l">
              <a:lnSpc>
                <a:spcPct val="115000"/>
              </a:lnSpc>
            </a:pPr>
            <a:r>
              <a:rPr sz="1200" b="1" i="0">
                <a:solidFill>
                  <a:srgbClr val="B9D29C"/>
                </a:solidFill>
                <a:latin typeface="Nunito Sans"/>
              </a:rPr>
              <a:t>1 · HOURS THAT COUNT</a:t>
            </a:r>
          </a:p>
        </p:txBody>
      </p:sp>
      <p:sp>
        <p:nvSpPr>
          <p:cNvPr id="6" name="TextBox 5"/>
          <p:cNvSpPr txBox="1"/>
          <p:nvPr/>
        </p:nvSpPr>
        <p:spPr>
          <a:xfrm>
            <a:off x="1117600" y="2540000"/>
            <a:ext cx="2794000" cy="571500"/>
          </a:xfrm>
          <a:prstGeom prst="rect">
            <a:avLst/>
          </a:prstGeom>
          <a:noFill/>
        </p:spPr>
        <p:txBody>
          <a:bodyPr wrap="square" anchor="t" lIns="0" rIns="0" tIns="0" bIns="0">
            <a:spAutoFit/>
          </a:bodyPr>
          <a:lstStyle/>
          <a:p>
            <a:pPr algn="l">
              <a:lnSpc>
                <a:spcPct val="115000"/>
              </a:lnSpc>
            </a:pPr>
            <a:r>
              <a:rPr sz="3200" b="1" i="0">
                <a:solidFill>
                  <a:srgbClr val="B9D29C"/>
                </a:solidFill>
                <a:latin typeface="Domine"/>
              </a:rPr>
              <a:t>12</a:t>
            </a:r>
          </a:p>
        </p:txBody>
      </p:sp>
      <p:sp>
        <p:nvSpPr>
          <p:cNvPr id="7" name="TextBox 6"/>
          <p:cNvSpPr txBox="1"/>
          <p:nvPr/>
        </p:nvSpPr>
        <p:spPr>
          <a:xfrm>
            <a:off x="1117600" y="3238500"/>
            <a:ext cx="2794000" cy="1778000"/>
          </a:xfrm>
          <a:prstGeom prst="rect">
            <a:avLst/>
          </a:prstGeom>
          <a:noFill/>
        </p:spPr>
        <p:txBody>
          <a:bodyPr wrap="square" anchor="t" lIns="0" rIns="0" tIns="0" bIns="0">
            <a:spAutoFit/>
          </a:bodyPr>
          <a:lstStyle/>
          <a:p>
            <a:pPr algn="l">
              <a:lnSpc>
                <a:spcPct val="130000"/>
              </a:lnSpc>
            </a:pPr>
            <a:r>
              <a:rPr sz="1500" b="0" i="0">
                <a:solidFill>
                  <a:srgbClr val="C9D6C0"/>
                </a:solidFill>
                <a:latin typeface="Nunito Sans"/>
              </a:rPr>
              <a:t>volunteers could gain a benefit by coming back: school hours, FFA, college credit, CalFresh.</a:t>
            </a:r>
          </a:p>
        </p:txBody>
      </p:sp>
      <p:sp>
        <p:nvSpPr>
          <p:cNvPr id="8" name="Rounded Rectangle 7"/>
          <p:cNvSpPr/>
          <p:nvPr/>
        </p:nvSpPr>
        <p:spPr>
          <a:xfrm>
            <a:off x="4400550" y="1841500"/>
            <a:ext cx="3384550" cy="3302000"/>
          </a:xfrm>
          <a:prstGeom prst="roundRect">
            <a:avLst>
              <a:gd name="adj" fmla="val 6000"/>
            </a:avLst>
          </a:prstGeom>
          <a:solidFill>
            <a:srgbClr val="273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52950" y="1841500"/>
            <a:ext cx="3079750" cy="38100"/>
          </a:xfrm>
          <a:prstGeom prst="rect">
            <a:avLst/>
          </a:prstGeom>
          <a:solidFill>
            <a:srgbClr val="B9D2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5350" y="2146300"/>
            <a:ext cx="2921000" cy="254000"/>
          </a:xfrm>
          <a:prstGeom prst="rect">
            <a:avLst/>
          </a:prstGeom>
          <a:noFill/>
        </p:spPr>
        <p:txBody>
          <a:bodyPr wrap="square" anchor="t" lIns="0" rIns="0" tIns="0" bIns="0">
            <a:spAutoFit/>
          </a:bodyPr>
          <a:lstStyle/>
          <a:p>
            <a:pPr algn="l">
              <a:lnSpc>
                <a:spcPct val="115000"/>
              </a:lnSpc>
            </a:pPr>
            <a:r>
              <a:rPr sz="1200" b="1" i="0">
                <a:solidFill>
                  <a:srgbClr val="B9D29C"/>
                </a:solidFill>
                <a:latin typeface="Nunito Sans"/>
              </a:rPr>
              <a:t>2 · A PERSONAL NUDGE</a:t>
            </a:r>
          </a:p>
        </p:txBody>
      </p:sp>
      <p:sp>
        <p:nvSpPr>
          <p:cNvPr id="11" name="TextBox 10"/>
          <p:cNvSpPr txBox="1"/>
          <p:nvPr/>
        </p:nvSpPr>
        <p:spPr>
          <a:xfrm>
            <a:off x="4705350" y="2540000"/>
            <a:ext cx="2794000" cy="571500"/>
          </a:xfrm>
          <a:prstGeom prst="rect">
            <a:avLst/>
          </a:prstGeom>
          <a:noFill/>
        </p:spPr>
        <p:txBody>
          <a:bodyPr wrap="square" anchor="t" lIns="0" rIns="0" tIns="0" bIns="0">
            <a:spAutoFit/>
          </a:bodyPr>
          <a:lstStyle/>
          <a:p>
            <a:pPr algn="l">
              <a:lnSpc>
                <a:spcPct val="115000"/>
              </a:lnSpc>
            </a:pPr>
            <a:r>
              <a:rPr sz="3200" b="1" i="0">
                <a:solidFill>
                  <a:srgbClr val="B9D29C"/>
                </a:solidFill>
                <a:latin typeface="Domine"/>
              </a:rPr>
              <a:t>AI + you</a:t>
            </a:r>
          </a:p>
        </p:txBody>
      </p:sp>
      <p:sp>
        <p:nvSpPr>
          <p:cNvPr id="12" name="TextBox 11"/>
          <p:cNvSpPr txBox="1"/>
          <p:nvPr/>
        </p:nvSpPr>
        <p:spPr>
          <a:xfrm>
            <a:off x="4705350" y="3238500"/>
            <a:ext cx="2794000" cy="1778000"/>
          </a:xfrm>
          <a:prstGeom prst="rect">
            <a:avLst/>
          </a:prstGeom>
          <a:noFill/>
        </p:spPr>
        <p:txBody>
          <a:bodyPr wrap="square" anchor="t" lIns="0" rIns="0" tIns="0" bIns="0">
            <a:spAutoFit/>
          </a:bodyPr>
          <a:lstStyle/>
          <a:p>
            <a:pPr algn="l">
              <a:lnSpc>
                <a:spcPct val="130000"/>
              </a:lnSpc>
            </a:pPr>
            <a:r>
              <a:rPr sz="1500" b="0" i="0">
                <a:solidFill>
                  <a:srgbClr val="C9D6C0"/>
                </a:solidFill>
                <a:latin typeface="Nunito Sans"/>
              </a:rPr>
              <a:t>A Garden Steward sign-up learns what people want. Roots drafts each SMS; a coordinator sends it.</a:t>
            </a:r>
          </a:p>
        </p:txBody>
      </p:sp>
      <p:sp>
        <p:nvSpPr>
          <p:cNvPr id="13" name="Rounded Rectangle 12"/>
          <p:cNvSpPr/>
          <p:nvPr/>
        </p:nvSpPr>
        <p:spPr>
          <a:xfrm>
            <a:off x="7988300" y="1841500"/>
            <a:ext cx="3384550" cy="3302000"/>
          </a:xfrm>
          <a:prstGeom prst="roundRect">
            <a:avLst>
              <a:gd name="adj" fmla="val 6000"/>
            </a:avLst>
          </a:prstGeom>
          <a:solidFill>
            <a:srgbClr val="273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0700" y="1841500"/>
            <a:ext cx="3079750" cy="38100"/>
          </a:xfrm>
          <a:prstGeom prst="rect">
            <a:avLst/>
          </a:prstGeom>
          <a:solidFill>
            <a:srgbClr val="E0A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100" y="2146300"/>
            <a:ext cx="2921000" cy="254000"/>
          </a:xfrm>
          <a:prstGeom prst="rect">
            <a:avLst/>
          </a:prstGeom>
          <a:noFill/>
        </p:spPr>
        <p:txBody>
          <a:bodyPr wrap="square" anchor="t" lIns="0" rIns="0" tIns="0" bIns="0">
            <a:spAutoFit/>
          </a:bodyPr>
          <a:lstStyle/>
          <a:p>
            <a:pPr algn="l">
              <a:lnSpc>
                <a:spcPct val="115000"/>
              </a:lnSpc>
            </a:pPr>
            <a:r>
              <a:rPr sz="1200" b="1" i="0">
                <a:solidFill>
                  <a:srgbClr val="E0A85A"/>
                </a:solidFill>
                <a:latin typeface="Nunito Sans"/>
              </a:rPr>
              <a:t>3 · MONEY FOR THE GARDEN</a:t>
            </a:r>
          </a:p>
        </p:txBody>
      </p:sp>
      <p:sp>
        <p:nvSpPr>
          <p:cNvPr id="16" name="TextBox 15"/>
          <p:cNvSpPr txBox="1"/>
          <p:nvPr/>
        </p:nvSpPr>
        <p:spPr>
          <a:xfrm>
            <a:off x="8293100" y="2540000"/>
            <a:ext cx="2794000" cy="571500"/>
          </a:xfrm>
          <a:prstGeom prst="rect">
            <a:avLst/>
          </a:prstGeom>
          <a:noFill/>
        </p:spPr>
        <p:txBody>
          <a:bodyPr wrap="square" anchor="t" lIns="0" rIns="0" tIns="0" bIns="0">
            <a:spAutoFit/>
          </a:bodyPr>
          <a:lstStyle/>
          <a:p>
            <a:pPr algn="l">
              <a:lnSpc>
                <a:spcPct val="115000"/>
              </a:lnSpc>
            </a:pPr>
            <a:r>
              <a:rPr sz="3200" b="1" i="0">
                <a:solidFill>
                  <a:srgbClr val="E0A85A"/>
                </a:solidFill>
                <a:latin typeface="Domine"/>
              </a:rPr>
              <a:t>$25/hr</a:t>
            </a:r>
          </a:p>
        </p:txBody>
      </p:sp>
      <p:sp>
        <p:nvSpPr>
          <p:cNvPr id="17" name="TextBox 16"/>
          <p:cNvSpPr txBox="1"/>
          <p:nvPr/>
        </p:nvSpPr>
        <p:spPr>
          <a:xfrm>
            <a:off x="8293100" y="3238500"/>
            <a:ext cx="2794000" cy="1778000"/>
          </a:xfrm>
          <a:prstGeom prst="rect">
            <a:avLst/>
          </a:prstGeom>
          <a:noFill/>
        </p:spPr>
        <p:txBody>
          <a:bodyPr wrap="square" anchor="t" lIns="0" rIns="0" tIns="0" bIns="0">
            <a:spAutoFit/>
          </a:bodyPr>
          <a:lstStyle/>
          <a:p>
            <a:pPr algn="l">
              <a:lnSpc>
                <a:spcPct val="130000"/>
              </a:lnSpc>
            </a:pPr>
            <a:r>
              <a:rPr sz="1500" b="0" i="0">
                <a:solidFill>
                  <a:srgbClr val="C9D6C0"/>
                </a:solidFill>
                <a:latin typeface="Nunito Sans"/>
              </a:rPr>
              <a:t>from Microsoft for 3 regulars’ hours, plus a $2.5k–$10k grant that closes 2 November.</a:t>
            </a:r>
          </a:p>
        </p:txBody>
      </p:sp>
      <p:sp>
        <p:nvSpPr>
          <p:cNvPr id="18" name="TextBox 17"/>
          <p:cNvSpPr txBox="1"/>
          <p:nvPr/>
        </p:nvSpPr>
        <p:spPr>
          <a:xfrm>
            <a:off x="812800" y="5461000"/>
            <a:ext cx="10566400" cy="381000"/>
          </a:xfrm>
          <a:prstGeom prst="rect">
            <a:avLst/>
          </a:prstGeom>
          <a:noFill/>
        </p:spPr>
        <p:txBody>
          <a:bodyPr wrap="square" anchor="t" lIns="0" rIns="0" tIns="0" bIns="0">
            <a:spAutoFit/>
          </a:bodyPr>
          <a:lstStyle/>
          <a:p>
            <a:pPr algn="l">
              <a:lnSpc>
                <a:spcPct val="115000"/>
              </a:lnSpc>
            </a:pPr>
            <a:r>
              <a:rPr sz="1600" b="0" i="0">
                <a:solidFill>
                  <a:srgbClr val="B9D29C"/>
                </a:solidFill>
                <a:latin typeface="Nunito Sans"/>
              </a:rPr>
              <a:t>Benefits → return visits → logged hours → funding → more volunteer days.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812800" y="812800"/>
            <a:ext cx="10566400" cy="635000"/>
          </a:xfrm>
          <a:prstGeom prst="rect">
            <a:avLst/>
          </a:prstGeom>
          <a:noFill/>
        </p:spPr>
        <p:txBody>
          <a:bodyPr wrap="square" anchor="t" lIns="0" rIns="0" tIns="0" bIns="0">
            <a:spAutoFit/>
          </a:bodyPr>
          <a:lstStyle/>
          <a:p>
            <a:pPr algn="l">
              <a:lnSpc>
                <a:spcPct val="115000"/>
              </a:lnSpc>
            </a:pPr>
            <a:r>
              <a:rPr sz="3600" b="1" i="0">
                <a:solidFill>
                  <a:srgbClr val="1E261D"/>
                </a:solidFill>
                <a:latin typeface="Domine"/>
              </a:rPr>
              <a:t>Know them. Reach them.</a:t>
            </a:r>
          </a:p>
        </p:txBody>
      </p:sp>
      <p:sp>
        <p:nvSpPr>
          <p:cNvPr id="3" name="Rounded Rectangle 2"/>
          <p:cNvSpPr/>
          <p:nvPr/>
        </p:nvSpPr>
        <p:spPr>
          <a:xfrm>
            <a:off x="812800" y="1714500"/>
            <a:ext cx="5156200" cy="3225800"/>
          </a:xfrm>
          <a:prstGeom prst="roundRect">
            <a:avLst>
              <a:gd name="adj" fmla="val 6000"/>
            </a:avLst>
          </a:prstGeom>
          <a:solidFill>
            <a:srgbClr val="E7E2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onboarding.png"/>
          <p:cNvPicPr>
            <a:picLocks noChangeAspect="1"/>
          </p:cNvPicPr>
          <p:nvPr/>
        </p:nvPicPr>
        <p:blipFill>
          <a:blip r:embed="rId2"/>
          <a:stretch>
            <a:fillRect/>
          </a:stretch>
        </p:blipFill>
        <p:spPr>
          <a:xfrm>
            <a:off x="939800" y="1841500"/>
            <a:ext cx="4902200" cy="2971800"/>
          </a:xfrm>
          <a:prstGeom prst="rect">
            <a:avLst/>
          </a:prstGeom>
        </p:spPr>
      </p:pic>
      <p:sp>
        <p:nvSpPr>
          <p:cNvPr id="5" name="Rounded Rectangle 4"/>
          <p:cNvSpPr/>
          <p:nvPr/>
        </p:nvSpPr>
        <p:spPr>
          <a:xfrm>
            <a:off x="6223000" y="1714500"/>
            <a:ext cx="5156200" cy="3225800"/>
          </a:xfrm>
          <a:prstGeom prst="roundRect">
            <a:avLst>
              <a:gd name="adj" fmla="val 6000"/>
            </a:avLst>
          </a:prstGeom>
          <a:solidFill>
            <a:srgbClr val="1E26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ll.png"/>
          <p:cNvPicPr>
            <a:picLocks noChangeAspect="1"/>
          </p:cNvPicPr>
          <p:nvPr/>
        </p:nvPicPr>
        <p:blipFill>
          <a:blip r:embed="rId3"/>
          <a:stretch>
            <a:fillRect/>
          </a:stretch>
        </p:blipFill>
        <p:spPr>
          <a:xfrm>
            <a:off x="6350000" y="1841500"/>
            <a:ext cx="4902200" cy="2971800"/>
          </a:xfrm>
          <a:prstGeom prst="rect">
            <a:avLst/>
          </a:prstGeom>
        </p:spPr>
      </p:pic>
      <p:sp>
        <p:nvSpPr>
          <p:cNvPr id="7" name="TextBox 6"/>
          <p:cNvSpPr txBox="1"/>
          <p:nvPr/>
        </p:nvSpPr>
        <p:spPr>
          <a:xfrm>
            <a:off x="812800" y="5080000"/>
            <a:ext cx="5156200" cy="698500"/>
          </a:xfrm>
          <a:prstGeom prst="rect">
            <a:avLst/>
          </a:prstGeom>
          <a:noFill/>
        </p:spPr>
        <p:txBody>
          <a:bodyPr wrap="square" anchor="t" lIns="0" rIns="0" tIns="0" bIns="0">
            <a:spAutoFit/>
          </a:bodyPr>
          <a:lstStyle/>
          <a:p>
            <a:pPr algn="l">
              <a:lnSpc>
                <a:spcPct val="130000"/>
              </a:lnSpc>
            </a:pPr>
            <a:r>
              <a:rPr sz="1400" b="1" i="0">
                <a:solidFill>
                  <a:srgbClr val="1E261D"/>
                </a:solidFill>
                <a:latin typeface="Nunito Sans"/>
              </a:rPr>
              <a:t>Sign-up in Garden Steward: </a:t>
            </a:r>
            <a:r>
              <a:rPr sz="1400" b="0" i="0">
                <a:solidFill>
                  <a:srgbClr val="4E5A4A"/>
                </a:solidFill>
                <a:latin typeface="Nunito Sans"/>
              </a:rPr>
              <a:t>interests, availability, work, and whether their hours could count.</a:t>
            </a:r>
          </a:p>
        </p:txBody>
      </p:sp>
      <p:sp>
        <p:nvSpPr>
          <p:cNvPr id="8" name="TextBox 7"/>
          <p:cNvSpPr txBox="1"/>
          <p:nvPr/>
        </p:nvSpPr>
        <p:spPr>
          <a:xfrm>
            <a:off x="6223000" y="5080000"/>
            <a:ext cx="5156200" cy="698500"/>
          </a:xfrm>
          <a:prstGeom prst="rect">
            <a:avLst/>
          </a:prstGeom>
          <a:noFill/>
        </p:spPr>
        <p:txBody>
          <a:bodyPr wrap="square" anchor="t" lIns="0" rIns="0" tIns="0" bIns="0">
            <a:spAutoFit/>
          </a:bodyPr>
          <a:lstStyle/>
          <a:p>
            <a:pPr algn="l">
              <a:lnSpc>
                <a:spcPct val="130000"/>
              </a:lnSpc>
            </a:pPr>
            <a:r>
              <a:rPr sz="1400" b="1" i="0">
                <a:solidFill>
                  <a:srgbClr val="1E261D"/>
                </a:solidFill>
                <a:latin typeface="Nunito Sans"/>
              </a:rPr>
              <a:t>Tell the people: </a:t>
            </a:r>
            <a:r>
              <a:rPr sz="1400" b="0" i="0">
                <a:solidFill>
                  <a:srgbClr val="4E5A4A"/>
                </a:solidFill>
                <a:latin typeface="Nunito Sans"/>
              </a:rPr>
              <a:t>Roots writes the SMS. Nothing goes out until a person sends it.</a:t>
            </a:r>
          </a:p>
        </p:txBody>
      </p:sp>
      <p:sp>
        <p:nvSpPr>
          <p:cNvPr id="9" name="TextBox 8"/>
          <p:cNvSpPr txBox="1"/>
          <p:nvPr/>
        </p:nvSpPr>
        <p:spPr>
          <a:xfrm>
            <a:off x="812800" y="6045200"/>
            <a:ext cx="10566400" cy="254000"/>
          </a:xfrm>
          <a:prstGeom prst="rect">
            <a:avLst/>
          </a:prstGeom>
          <a:noFill/>
        </p:spPr>
        <p:txBody>
          <a:bodyPr wrap="square" anchor="t" lIns="0" rIns="0" tIns="0" bIns="0">
            <a:spAutoFit/>
          </a:bodyPr>
          <a:lstStyle/>
          <a:p>
            <a:pPr algn="l">
              <a:lnSpc>
                <a:spcPct val="115000"/>
              </a:lnSpc>
            </a:pPr>
            <a:r>
              <a:rPr sz="1200" b="0" i="0">
                <a:solidFill>
                  <a:srgbClr val="4E5A4A"/>
                </a:solidFill>
                <a:latin typeface="Nunito Sans"/>
              </a:rPr>
              <a:t>Demo uses fictional people. SMS is not connected yet; demo messages go to a Telegram demo inbox.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61D"/>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anchor="t" lIns="0" rIns="0" tIns="0" bIns="0">
            <a:spAutoFit/>
          </a:bodyPr>
          <a:lstStyle/>
          <a:p>
            <a:pPr algn="l">
              <a:lnSpc>
                <a:spcPct val="115000"/>
              </a:lnSpc>
            </a:pPr>
            <a:r>
              <a:rPr sz="1200" b="1" i="0">
                <a:solidFill>
                  <a:srgbClr val="B9D29C"/>
                </a:solidFill>
                <a:latin typeface="Nunito Sans"/>
              </a:rPr>
              <a:t>ROOTS</a:t>
            </a:r>
          </a:p>
        </p:txBody>
      </p:sp>
      <p:sp>
        <p:nvSpPr>
          <p:cNvPr id="3" name="TextBox 2"/>
          <p:cNvSpPr txBox="1"/>
          <p:nvPr/>
        </p:nvSpPr>
        <p:spPr>
          <a:xfrm>
            <a:off x="812800" y="2095500"/>
            <a:ext cx="9525000" cy="1841500"/>
          </a:xfrm>
          <a:prstGeom prst="rect">
            <a:avLst/>
          </a:prstGeom>
          <a:noFill/>
        </p:spPr>
        <p:txBody>
          <a:bodyPr wrap="square" anchor="t" lIns="0" rIns="0" tIns="0" bIns="0">
            <a:spAutoFit/>
          </a:bodyPr>
          <a:lstStyle/>
          <a:p>
            <a:pPr algn="l">
              <a:lnSpc>
                <a:spcPct val="105000"/>
              </a:lnSpc>
            </a:pPr>
            <a:r>
              <a:rPr sz="5500" b="1" i="0">
                <a:solidFill>
                  <a:srgbClr val="F3EFE4"/>
                </a:solidFill>
                <a:latin typeface="Domine"/>
              </a:rPr>
              <a:t>Every hour should count for something.</a:t>
            </a:r>
          </a:p>
        </p:txBody>
      </p:sp>
      <p:sp>
        <p:nvSpPr>
          <p:cNvPr id="4" name="TextBox 3"/>
          <p:cNvSpPr txBox="1"/>
          <p:nvPr/>
        </p:nvSpPr>
        <p:spPr>
          <a:xfrm>
            <a:off x="812800" y="4127500"/>
            <a:ext cx="9525000" cy="444500"/>
          </a:xfrm>
          <a:prstGeom prst="rect">
            <a:avLst/>
          </a:prstGeom>
          <a:noFill/>
        </p:spPr>
        <p:txBody>
          <a:bodyPr wrap="square" anchor="t" lIns="0" rIns="0" tIns="0" bIns="0">
            <a:spAutoFit/>
          </a:bodyPr>
          <a:lstStyle/>
          <a:p>
            <a:pPr algn="l">
              <a:lnSpc>
                <a:spcPct val="115000"/>
              </a:lnSpc>
            </a:pPr>
            <a:r>
              <a:rPr sz="2200" b="0" i="0">
                <a:solidFill>
                  <a:srgbClr val="B9D29C"/>
                </a:solidFill>
                <a:latin typeface="Nunito Sans"/>
              </a:rPr>
              <a:t>Let’s pilot it at the Guild’s next monthly work day.</a:t>
            </a:r>
          </a:p>
        </p:txBody>
      </p:sp>
      <p:sp>
        <p:nvSpPr>
          <p:cNvPr id="5" name="TextBox 4"/>
          <p:cNvSpPr txBox="1"/>
          <p:nvPr/>
        </p:nvSpPr>
        <p:spPr>
          <a:xfrm>
            <a:off x="812800" y="5651500"/>
            <a:ext cx="10566400" cy="381000"/>
          </a:xfrm>
          <a:prstGeom prst="rect">
            <a:avLst/>
          </a:prstGeom>
          <a:noFill/>
        </p:spPr>
        <p:txBody>
          <a:bodyPr wrap="square" anchor="t" lIns="0" rIns="0" tIns="0" bIns="0">
            <a:spAutoFit/>
          </a:bodyPr>
          <a:lstStyle/>
          <a:p>
            <a:pPr algn="l">
              <a:lnSpc>
                <a:spcPct val="115000"/>
              </a:lnSpc>
            </a:pPr>
            <a:r>
              <a:rPr sz="1600" b="0" i="0">
                <a:solidFill>
                  <a:srgbClr val="C9D6C0"/>
                </a:solidFill>
                <a:latin typeface="Nunito Sans"/>
              </a:rPr>
              <a:t>Built into Garden Steward · a person approves every message · costs cents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